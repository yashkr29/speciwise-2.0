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70" r:id="rId8"/>
    <p:sldId id="269" r:id="rId9"/>
    <p:sldId id="272" r:id="rId10"/>
    <p:sldId id="271" r:id="rId11"/>
    <p:sldId id="262" r:id="rId12"/>
    <p:sldId id="263" r:id="rId13"/>
    <p:sldId id="264" r:id="rId14"/>
    <p:sldId id="265" r:id="rId15"/>
    <p:sldId id="266" r:id="rId16"/>
    <p:sldId id="267" r:id="rId17"/>
  </p:sldIdLst>
  <p:sldSz cx="9144000" cy="6858000" type="screen4x3"/>
  <p:notesSz cx="9144000" cy="6858000"/>
  <p:embeddedFontLst>
    <p:embeddedFont>
      <p:font typeface="Century Schoolbook" panose="02040604050505020304" pitchFamily="18"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guATwLBPAuOsgfyrv/xwC2db7U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CB3F4C0-F2E8-4320-A34B-0B094AA10944}">
  <a:tblStyle styleId="{6CB3F4C0-F2E8-4320-A34B-0B094AA1094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81" d="100"/>
          <a:sy n="81" d="100"/>
        </p:scale>
        <p:origin x="1526" y="53"/>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3.fntdata"/><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 name="Google Shape;44;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5cc8714c89_0_4: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 name="Google Shape;54;g5cc8714c89_0_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p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6: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8: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 name="Google Shape;84;p8: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9: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9: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1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1: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1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CC32B735-E818-672D-FB54-0246F3A4AE82}"/>
            </a:ext>
          </a:extLst>
        </p:cNvPr>
        <p:cNvGrpSpPr/>
        <p:nvPr/>
      </p:nvGrpSpPr>
      <p:grpSpPr>
        <a:xfrm>
          <a:off x="0" y="0"/>
          <a:ext cx="0" cy="0"/>
          <a:chOff x="0" y="0"/>
          <a:chExt cx="0" cy="0"/>
        </a:xfrm>
      </p:grpSpPr>
      <p:sp>
        <p:nvSpPr>
          <p:cNvPr id="165" name="Google Shape;165;p11:notes">
            <a:extLst>
              <a:ext uri="{FF2B5EF4-FFF2-40B4-BE49-F238E27FC236}">
                <a16:creationId xmlns:a16="http://schemas.microsoft.com/office/drawing/2014/main" id="{EDEDDEC3-253A-FB3C-53E1-B68508A38855}"/>
              </a:ext>
            </a:extLst>
          </p:cNvPr>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11:notes">
            <a:extLst>
              <a:ext uri="{FF2B5EF4-FFF2-40B4-BE49-F238E27FC236}">
                <a16:creationId xmlns:a16="http://schemas.microsoft.com/office/drawing/2014/main" id="{F0B99429-AC44-D8A3-16F6-E315CC8F5E12}"/>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9903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065D1BDC-FD03-81B5-ED12-1D7981DC69E0}"/>
            </a:ext>
          </a:extLst>
        </p:cNvPr>
        <p:cNvGrpSpPr/>
        <p:nvPr/>
      </p:nvGrpSpPr>
      <p:grpSpPr>
        <a:xfrm>
          <a:off x="0" y="0"/>
          <a:ext cx="0" cy="0"/>
          <a:chOff x="0" y="0"/>
          <a:chExt cx="0" cy="0"/>
        </a:xfrm>
      </p:grpSpPr>
      <p:sp>
        <p:nvSpPr>
          <p:cNvPr id="114" name="Google Shape;114;p12:notes">
            <a:extLst>
              <a:ext uri="{FF2B5EF4-FFF2-40B4-BE49-F238E27FC236}">
                <a16:creationId xmlns:a16="http://schemas.microsoft.com/office/drawing/2014/main" id="{22003284-4764-0C61-2299-54E79B068144}"/>
              </a:ext>
            </a:extLst>
          </p:cNvPr>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12:notes">
            <a:extLst>
              <a:ext uri="{FF2B5EF4-FFF2-40B4-BE49-F238E27FC236}">
                <a16:creationId xmlns:a16="http://schemas.microsoft.com/office/drawing/2014/main" id="{1973CF6B-1F02-85FA-987A-794A4B27B01C}"/>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26324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7: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7: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2: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1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3" name="Google Shape;123;p1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1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5cc8714c89_2_35: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5cc8714c89_2_35: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p16: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8"/>
          <p:cNvSpPr txBox="1">
            <a:spLocks noGrp="1"/>
          </p:cNvSpPr>
          <p:nvPr>
            <p:ph type="title"/>
          </p:nvPr>
        </p:nvSpPr>
        <p:spPr>
          <a:xfrm>
            <a:off x="1753870" y="482930"/>
            <a:ext cx="5636259" cy="69723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400" b="1" i="0">
                <a:solidFill>
                  <a:schemeClr val="hlink"/>
                </a:solidFill>
                <a:latin typeface="Century Schoolbook"/>
                <a:ea typeface="Century Schoolbook"/>
                <a:cs typeface="Century Schoolbook"/>
                <a:sym typeface="Century Schoolboo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8"/>
          <p:cNvSpPr txBox="1">
            <a:spLocks noGrp="1"/>
          </p:cNvSpPr>
          <p:nvPr>
            <p:ph type="body" idx="1"/>
          </p:nvPr>
        </p:nvSpPr>
        <p:spPr>
          <a:xfrm>
            <a:off x="535940" y="1570180"/>
            <a:ext cx="8073390" cy="340931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2400" b="0" i="0">
                <a:solidFill>
                  <a:schemeClr val="dk1"/>
                </a:solidFill>
                <a:latin typeface="Century Schoolbook"/>
                <a:ea typeface="Century Schoolbook"/>
                <a:cs typeface="Century Schoolbook"/>
                <a:sym typeface="Century Schoolbook"/>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7" name="Google Shape;17;p28"/>
          <p:cNvSpPr txBox="1">
            <a:spLocks noGrp="1"/>
          </p:cNvSpPr>
          <p:nvPr>
            <p:ph type="ftr" idx="11"/>
          </p:nvPr>
        </p:nvSpPr>
        <p:spPr>
          <a:xfrm>
            <a:off x="1379347" y="5917197"/>
            <a:ext cx="7220584" cy="76898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800" b="1" i="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8"/>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8"/>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0"/>
        <p:cNvGrpSpPr/>
        <p:nvPr/>
      </p:nvGrpSpPr>
      <p:grpSpPr>
        <a:xfrm>
          <a:off x="0" y="0"/>
          <a:ext cx="0" cy="0"/>
          <a:chOff x="0" y="0"/>
          <a:chExt cx="0" cy="0"/>
        </a:xfrm>
      </p:grpSpPr>
      <p:sp>
        <p:nvSpPr>
          <p:cNvPr id="21" name="Google Shape;21;p29"/>
          <p:cNvSpPr txBox="1">
            <a:spLocks noGrp="1"/>
          </p:cNvSpPr>
          <p:nvPr>
            <p:ph type="ctrTitle"/>
          </p:nvPr>
        </p:nvSpPr>
        <p:spPr>
          <a:xfrm>
            <a:off x="803554" y="214706"/>
            <a:ext cx="7536891" cy="12446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1" i="0">
                <a:solidFill>
                  <a:schemeClr val="hlink"/>
                </a:solidFill>
                <a:latin typeface="Century Schoolbook"/>
                <a:ea typeface="Century Schoolbook"/>
                <a:cs typeface="Century Schoolbook"/>
                <a:sym typeface="Century Schoolboo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9"/>
          <p:cNvSpPr txBox="1">
            <a:spLocks noGrp="1"/>
          </p:cNvSpPr>
          <p:nvPr>
            <p:ph type="subTitle" idx="1"/>
          </p:nvPr>
        </p:nvSpPr>
        <p:spPr>
          <a:xfrm>
            <a:off x="1371600" y="3840480"/>
            <a:ext cx="64008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9"/>
          <p:cNvSpPr txBox="1">
            <a:spLocks noGrp="1"/>
          </p:cNvSpPr>
          <p:nvPr>
            <p:ph type="ftr" idx="11"/>
          </p:nvPr>
        </p:nvSpPr>
        <p:spPr>
          <a:xfrm>
            <a:off x="1379347" y="5917197"/>
            <a:ext cx="7220584" cy="76898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800" b="1" i="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9"/>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9"/>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6"/>
        <p:cNvGrpSpPr/>
        <p:nvPr/>
      </p:nvGrpSpPr>
      <p:grpSpPr>
        <a:xfrm>
          <a:off x="0" y="0"/>
          <a:ext cx="0" cy="0"/>
          <a:chOff x="0" y="0"/>
          <a:chExt cx="0" cy="0"/>
        </a:xfrm>
      </p:grpSpPr>
      <p:sp>
        <p:nvSpPr>
          <p:cNvPr id="27" name="Google Shape;27;p30"/>
          <p:cNvSpPr txBox="1">
            <a:spLocks noGrp="1"/>
          </p:cNvSpPr>
          <p:nvPr>
            <p:ph type="title"/>
          </p:nvPr>
        </p:nvSpPr>
        <p:spPr>
          <a:xfrm>
            <a:off x="1753870" y="482930"/>
            <a:ext cx="5636259" cy="69723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400" b="1" i="0">
                <a:solidFill>
                  <a:schemeClr val="hlink"/>
                </a:solidFill>
                <a:latin typeface="Century Schoolbook"/>
                <a:ea typeface="Century Schoolbook"/>
                <a:cs typeface="Century Schoolbook"/>
                <a:sym typeface="Century Schoolboo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0"/>
          <p:cNvSpPr txBox="1">
            <a:spLocks noGrp="1"/>
          </p:cNvSpPr>
          <p:nvPr>
            <p:ph type="ftr" idx="11"/>
          </p:nvPr>
        </p:nvSpPr>
        <p:spPr>
          <a:xfrm>
            <a:off x="1379347" y="5917197"/>
            <a:ext cx="7220584" cy="76898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800" b="1" i="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0"/>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30"/>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1"/>
        <p:cNvGrpSpPr/>
        <p:nvPr/>
      </p:nvGrpSpPr>
      <p:grpSpPr>
        <a:xfrm>
          <a:off x="0" y="0"/>
          <a:ext cx="0" cy="0"/>
          <a:chOff x="0" y="0"/>
          <a:chExt cx="0" cy="0"/>
        </a:xfrm>
      </p:grpSpPr>
      <p:sp>
        <p:nvSpPr>
          <p:cNvPr id="32" name="Google Shape;32;p31"/>
          <p:cNvSpPr txBox="1">
            <a:spLocks noGrp="1"/>
          </p:cNvSpPr>
          <p:nvPr>
            <p:ph type="ftr" idx="11"/>
          </p:nvPr>
        </p:nvSpPr>
        <p:spPr>
          <a:xfrm>
            <a:off x="1379347" y="5917197"/>
            <a:ext cx="7220584" cy="76898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800" b="1" i="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1"/>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1"/>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5"/>
        <p:cNvGrpSpPr/>
        <p:nvPr/>
      </p:nvGrpSpPr>
      <p:grpSpPr>
        <a:xfrm>
          <a:off x="0" y="0"/>
          <a:ext cx="0" cy="0"/>
          <a:chOff x="0" y="0"/>
          <a:chExt cx="0" cy="0"/>
        </a:xfrm>
      </p:grpSpPr>
      <p:sp>
        <p:nvSpPr>
          <p:cNvPr id="36" name="Google Shape;36;p32"/>
          <p:cNvSpPr txBox="1">
            <a:spLocks noGrp="1"/>
          </p:cNvSpPr>
          <p:nvPr>
            <p:ph type="title"/>
          </p:nvPr>
        </p:nvSpPr>
        <p:spPr>
          <a:xfrm>
            <a:off x="1753870" y="482930"/>
            <a:ext cx="5636259" cy="69723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400" b="1" i="0">
                <a:solidFill>
                  <a:schemeClr val="hlink"/>
                </a:solidFill>
                <a:latin typeface="Century Schoolbook"/>
                <a:ea typeface="Century Schoolbook"/>
                <a:cs typeface="Century Schoolbook"/>
                <a:sym typeface="Century Schoolboo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2"/>
          <p:cNvSpPr txBox="1">
            <a:spLocks noGrp="1"/>
          </p:cNvSpPr>
          <p:nvPr>
            <p:ph type="body" idx="1"/>
          </p:nvPr>
        </p:nvSpPr>
        <p:spPr>
          <a:xfrm>
            <a:off x="457200" y="1577340"/>
            <a:ext cx="397764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8" name="Google Shape;38;p32"/>
          <p:cNvSpPr txBox="1">
            <a:spLocks noGrp="1"/>
          </p:cNvSpPr>
          <p:nvPr>
            <p:ph type="body" idx="2"/>
          </p:nvPr>
        </p:nvSpPr>
        <p:spPr>
          <a:xfrm>
            <a:off x="4709160" y="1577340"/>
            <a:ext cx="397764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9" name="Google Shape;39;p32"/>
          <p:cNvSpPr txBox="1">
            <a:spLocks noGrp="1"/>
          </p:cNvSpPr>
          <p:nvPr>
            <p:ph type="ftr" idx="11"/>
          </p:nvPr>
        </p:nvSpPr>
        <p:spPr>
          <a:xfrm>
            <a:off x="1379347" y="5917197"/>
            <a:ext cx="7220584" cy="76898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800" b="1" i="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32"/>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2"/>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7"/>
          <p:cNvSpPr/>
          <p:nvPr/>
        </p:nvSpPr>
        <p:spPr>
          <a:xfrm>
            <a:off x="0" y="5816578"/>
            <a:ext cx="1062142" cy="1041418"/>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 name="Google Shape;7;p27"/>
          <p:cNvSpPr/>
          <p:nvPr/>
        </p:nvSpPr>
        <p:spPr>
          <a:xfrm>
            <a:off x="0" y="5638800"/>
            <a:ext cx="9144000" cy="152400"/>
          </a:xfrm>
          <a:custGeom>
            <a:avLst/>
            <a:gdLst/>
            <a:ahLst/>
            <a:cxnLst/>
            <a:rect l="l" t="t" r="r" b="b"/>
            <a:pathLst>
              <a:path w="9144000" h="152400" extrusionOk="0">
                <a:moveTo>
                  <a:pt x="0" y="152400"/>
                </a:moveTo>
                <a:lnTo>
                  <a:pt x="9144000" y="152400"/>
                </a:lnTo>
                <a:lnTo>
                  <a:pt x="9144000" y="0"/>
                </a:lnTo>
                <a:lnTo>
                  <a:pt x="0" y="0"/>
                </a:lnTo>
                <a:lnTo>
                  <a:pt x="0" y="152400"/>
                </a:lnTo>
                <a:close/>
              </a:path>
            </a:pathLst>
          </a:custGeom>
          <a:solidFill>
            <a:srgbClr val="00006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 name="Google Shape;8;p27"/>
          <p:cNvSpPr/>
          <p:nvPr/>
        </p:nvSpPr>
        <p:spPr>
          <a:xfrm>
            <a:off x="0" y="5638800"/>
            <a:ext cx="9144000" cy="152400"/>
          </a:xfrm>
          <a:custGeom>
            <a:avLst/>
            <a:gdLst/>
            <a:ahLst/>
            <a:cxnLst/>
            <a:rect l="l" t="t" r="r" b="b"/>
            <a:pathLst>
              <a:path w="9144000" h="152400" extrusionOk="0">
                <a:moveTo>
                  <a:pt x="0" y="152400"/>
                </a:moveTo>
                <a:lnTo>
                  <a:pt x="9144000" y="152400"/>
                </a:lnTo>
                <a:lnTo>
                  <a:pt x="9144000" y="0"/>
                </a:lnTo>
                <a:lnTo>
                  <a:pt x="0" y="0"/>
                </a:lnTo>
                <a:lnTo>
                  <a:pt x="0" y="1524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 name="Google Shape;9;p27"/>
          <p:cNvSpPr txBox="1">
            <a:spLocks noGrp="1"/>
          </p:cNvSpPr>
          <p:nvPr>
            <p:ph type="title"/>
          </p:nvPr>
        </p:nvSpPr>
        <p:spPr>
          <a:xfrm>
            <a:off x="1753870" y="482930"/>
            <a:ext cx="5636259" cy="69723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4400" b="1" i="0" u="none" strike="noStrike" cap="none">
                <a:solidFill>
                  <a:schemeClr val="hlink"/>
                </a:solidFill>
                <a:latin typeface="Century Schoolbook"/>
                <a:ea typeface="Century Schoolbook"/>
                <a:cs typeface="Century Schoolbook"/>
                <a:sym typeface="Century Schoolbook"/>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27"/>
          <p:cNvSpPr txBox="1">
            <a:spLocks noGrp="1"/>
          </p:cNvSpPr>
          <p:nvPr>
            <p:ph type="body" idx="1"/>
          </p:nvPr>
        </p:nvSpPr>
        <p:spPr>
          <a:xfrm>
            <a:off x="535940" y="1570180"/>
            <a:ext cx="8073390" cy="340931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entury Schoolbook"/>
                <a:ea typeface="Century Schoolbook"/>
                <a:cs typeface="Century Schoolbook"/>
                <a:sym typeface="Century Schoolbook"/>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1" name="Google Shape;11;p27"/>
          <p:cNvSpPr txBox="1">
            <a:spLocks noGrp="1"/>
          </p:cNvSpPr>
          <p:nvPr>
            <p:ph type="ftr" idx="11"/>
          </p:nvPr>
        </p:nvSpPr>
        <p:spPr>
          <a:xfrm>
            <a:off x="1379347" y="5917197"/>
            <a:ext cx="7220584" cy="76898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1" i="0" u="none" strike="noStrike" cap="none">
                <a:solidFill>
                  <a:srgbClr val="00006C"/>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2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7"/>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2"/>
          <p:cNvSpPr txBox="1"/>
          <p:nvPr/>
        </p:nvSpPr>
        <p:spPr>
          <a:xfrm>
            <a:off x="1280160" y="5943053"/>
            <a:ext cx="7496601"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MITSoC, Loni Kalbhor</a:t>
            </a:r>
            <a:endParaRPr sz="1800" b="1" i="1" u="none" strike="noStrike" cap="none">
              <a:solidFill>
                <a:srgbClr val="C00000"/>
              </a:solidFill>
              <a:latin typeface="Times New Roman"/>
              <a:ea typeface="Times New Roman"/>
              <a:cs typeface="Times New Roman"/>
              <a:sym typeface="Times New Roman"/>
            </a:endParaRPr>
          </a:p>
        </p:txBody>
      </p:sp>
      <p:sp>
        <p:nvSpPr>
          <p:cNvPr id="47" name="Google Shape;47;p2"/>
          <p:cNvSpPr/>
          <p:nvPr/>
        </p:nvSpPr>
        <p:spPr>
          <a:xfrm>
            <a:off x="2514600" y="3840480"/>
            <a:ext cx="3733800" cy="338700"/>
          </a:xfrm>
          <a:prstGeom prst="rect">
            <a:avLst/>
          </a:prstGeom>
          <a:noFill/>
          <a:ln>
            <a:noFill/>
          </a:ln>
        </p:spPr>
        <p:txBody>
          <a:bodyPr spcFirstLastPara="1" wrap="square" lIns="91425" tIns="45700" rIns="91425" bIns="45700" anchor="t" anchorCtr="0">
            <a:noAutofit/>
          </a:bodyPr>
          <a:lstStyle/>
          <a:p>
            <a:pPr marL="639762" marR="0" lvl="0" indent="-519112"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48" name="Google Shape;48;p2"/>
          <p:cNvSpPr txBox="1">
            <a:spLocks noGrp="1"/>
          </p:cNvSpPr>
          <p:nvPr>
            <p:ph type="title"/>
          </p:nvPr>
        </p:nvSpPr>
        <p:spPr>
          <a:xfrm>
            <a:off x="167361" y="1678523"/>
            <a:ext cx="8609400" cy="11160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SzPts val="1400"/>
              <a:buNone/>
            </a:pPr>
            <a:r>
              <a:rPr lang="en-US" sz="3600" dirty="0">
                <a:solidFill>
                  <a:srgbClr val="073763"/>
                </a:solidFill>
                <a:latin typeface="Times New Roman"/>
                <a:ea typeface="Times New Roman"/>
                <a:cs typeface="Times New Roman"/>
                <a:sym typeface="Times New Roman"/>
              </a:rPr>
              <a:t>Eventology: A Smart Event Management Platform for College Events</a:t>
            </a:r>
            <a:endParaRPr dirty="0">
              <a:solidFill>
                <a:srgbClr val="073763"/>
              </a:solidFill>
              <a:latin typeface="Times New Roman"/>
              <a:ea typeface="Times New Roman"/>
              <a:cs typeface="Times New Roman"/>
              <a:sym typeface="Times New Roman"/>
            </a:endParaRPr>
          </a:p>
        </p:txBody>
      </p:sp>
      <p:sp>
        <p:nvSpPr>
          <p:cNvPr id="49" name="Google Shape;49;p2"/>
          <p:cNvSpPr txBox="1"/>
          <p:nvPr/>
        </p:nvSpPr>
        <p:spPr>
          <a:xfrm>
            <a:off x="823650" y="3296816"/>
            <a:ext cx="7496700" cy="2062063"/>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600" b="1" dirty="0">
                <a:latin typeface="Times New Roman"/>
                <a:ea typeface="Times New Roman"/>
                <a:cs typeface="Times New Roman"/>
                <a:sym typeface="Times New Roman"/>
              </a:rPr>
              <a:t>		ADT23SOCB1335:- Yana Trivedi</a:t>
            </a:r>
          </a:p>
          <a:p>
            <a:r>
              <a:rPr lang="en-US" sz="1600" b="1" dirty="0">
                <a:latin typeface="Times New Roman"/>
                <a:ea typeface="Times New Roman"/>
                <a:cs typeface="Times New Roman"/>
                <a:sym typeface="Times New Roman"/>
              </a:rPr>
              <a:t>		ADT23SOCB0467:- </a:t>
            </a:r>
            <a:r>
              <a:rPr lang="en-US" sz="1600" b="1" dirty="0" err="1">
                <a:latin typeface="Times New Roman"/>
                <a:ea typeface="Times New Roman"/>
                <a:cs typeface="Times New Roman"/>
                <a:sym typeface="Times New Roman"/>
              </a:rPr>
              <a:t>Jaival</a:t>
            </a:r>
            <a:r>
              <a:rPr lang="en-US" sz="1600" b="1" dirty="0">
                <a:latin typeface="Times New Roman"/>
                <a:ea typeface="Times New Roman"/>
                <a:cs typeface="Times New Roman"/>
                <a:sym typeface="Times New Roman"/>
              </a:rPr>
              <a:t> </a:t>
            </a:r>
            <a:r>
              <a:rPr lang="en-US" sz="1600" b="1" dirty="0" err="1">
                <a:latin typeface="Times New Roman"/>
                <a:ea typeface="Times New Roman"/>
                <a:cs typeface="Times New Roman"/>
                <a:sym typeface="Times New Roman"/>
              </a:rPr>
              <a:t>Tamakuwala</a:t>
            </a:r>
            <a:endParaRPr lang="en-US" sz="1600" b="1" dirty="0">
              <a:latin typeface="Times New Roman"/>
              <a:ea typeface="Times New Roman"/>
              <a:cs typeface="Times New Roman"/>
              <a:sym typeface="Times New Roman"/>
            </a:endParaRPr>
          </a:p>
          <a:p>
            <a:r>
              <a:rPr lang="en-US" sz="1600" b="1" dirty="0">
                <a:latin typeface="Times New Roman"/>
                <a:ea typeface="Times New Roman"/>
                <a:cs typeface="Times New Roman"/>
                <a:sym typeface="Times New Roman"/>
              </a:rPr>
              <a:t>		ADT23SOCB1336 :- Yash Kumar</a:t>
            </a:r>
          </a:p>
          <a:p>
            <a:r>
              <a:rPr lang="en-US" sz="1600" b="1" dirty="0">
                <a:latin typeface="Times New Roman"/>
                <a:ea typeface="Times New Roman"/>
                <a:cs typeface="Times New Roman"/>
                <a:sym typeface="Times New Roman"/>
              </a:rPr>
              <a:t>		ADT23SOCB1266:-Vanshika </a:t>
            </a:r>
            <a:r>
              <a:rPr lang="en-US" sz="1600" b="1" dirty="0" err="1">
                <a:latin typeface="Times New Roman"/>
                <a:ea typeface="Times New Roman"/>
                <a:cs typeface="Times New Roman"/>
                <a:sym typeface="Times New Roman"/>
              </a:rPr>
              <a:t>Chopade</a:t>
            </a:r>
            <a:endParaRPr lang="en-US" sz="1600" b="1" dirty="0">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endParaRPr sz="1600" b="1" dirty="0">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US" sz="1600" b="1" dirty="0">
                <a:latin typeface="Times New Roman"/>
                <a:ea typeface="Times New Roman"/>
                <a:cs typeface="Times New Roman"/>
                <a:sym typeface="Times New Roman"/>
              </a:rPr>
              <a:t>Guided by:</a:t>
            </a:r>
            <a:endParaRPr sz="1600" b="1" dirty="0">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endParaRPr sz="1600" b="1" dirty="0">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US" sz="1600" b="1" dirty="0">
                <a:latin typeface="Times New Roman"/>
                <a:ea typeface="Times New Roman"/>
                <a:cs typeface="Times New Roman"/>
                <a:sym typeface="Times New Roman"/>
              </a:rPr>
              <a:t>Prof. Dr. Rashmi Nair</a:t>
            </a:r>
            <a:endParaRPr sz="1600" b="1" dirty="0">
              <a:latin typeface="Times New Roman"/>
              <a:ea typeface="Times New Roman"/>
              <a:cs typeface="Times New Roman"/>
              <a:sym typeface="Times New Roman"/>
            </a:endParaRPr>
          </a:p>
        </p:txBody>
      </p:sp>
      <p:sp>
        <p:nvSpPr>
          <p:cNvPr id="50" name="Google Shape;50;p2"/>
          <p:cNvSpPr txBox="1"/>
          <p:nvPr/>
        </p:nvSpPr>
        <p:spPr>
          <a:xfrm>
            <a:off x="2765570" y="380731"/>
            <a:ext cx="3384884"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dirty="0">
                <a:solidFill>
                  <a:srgbClr val="000000"/>
                </a:solidFill>
                <a:latin typeface="Times New Roman"/>
                <a:ea typeface="Times New Roman"/>
                <a:cs typeface="Times New Roman"/>
                <a:sym typeface="Times New Roman"/>
              </a:rPr>
              <a:t>Project Presentation</a:t>
            </a:r>
            <a:endParaRPr dirty="0"/>
          </a:p>
        </p:txBody>
      </p:sp>
      <p:pic>
        <p:nvPicPr>
          <p:cNvPr id="51" name="Google Shape;51;p2"/>
          <p:cNvPicPr preferRelativeResize="0"/>
          <p:nvPr/>
        </p:nvPicPr>
        <p:blipFill rotWithShape="1">
          <a:blip r:embed="rId3">
            <a:alphaModFix/>
          </a:blip>
          <a:srcRect/>
          <a:stretch/>
        </p:blipFill>
        <p:spPr>
          <a:xfrm>
            <a:off x="0" y="5812967"/>
            <a:ext cx="999854" cy="10204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g5cc8714c89_0_4"/>
          <p:cNvSpPr txBox="1">
            <a:spLocks noGrp="1"/>
          </p:cNvSpPr>
          <p:nvPr>
            <p:ph type="title"/>
          </p:nvPr>
        </p:nvSpPr>
        <p:spPr>
          <a:xfrm>
            <a:off x="830592" y="408046"/>
            <a:ext cx="6932100" cy="5541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en-US" sz="2800" dirty="0">
                <a:solidFill>
                  <a:srgbClr val="073763"/>
                </a:solidFill>
                <a:latin typeface="Times New Roman"/>
                <a:ea typeface="Times New Roman"/>
                <a:cs typeface="Times New Roman"/>
                <a:sym typeface="Times New Roman"/>
              </a:rPr>
              <a:t>Outline</a:t>
            </a:r>
            <a:endParaRPr dirty="0">
              <a:solidFill>
                <a:srgbClr val="073763"/>
              </a:solidFill>
            </a:endParaRPr>
          </a:p>
        </p:txBody>
      </p:sp>
      <p:sp>
        <p:nvSpPr>
          <p:cNvPr id="57" name="Google Shape;57;g5cc8714c89_0_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2</a:t>
            </a:fld>
            <a:endParaRPr/>
          </a:p>
        </p:txBody>
      </p:sp>
      <p:sp>
        <p:nvSpPr>
          <p:cNvPr id="58" name="Google Shape;58;g5cc8714c89_0_4"/>
          <p:cNvSpPr txBox="1"/>
          <p:nvPr/>
        </p:nvSpPr>
        <p:spPr>
          <a:xfrm>
            <a:off x="1379346" y="6055962"/>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pic>
        <p:nvPicPr>
          <p:cNvPr id="59" name="Google Shape;59;g5cc8714c89_0_4"/>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60" name="Google Shape;60;g5cc8714c89_0_4"/>
          <p:cNvSpPr txBox="1"/>
          <p:nvPr/>
        </p:nvSpPr>
        <p:spPr>
          <a:xfrm>
            <a:off x="830590" y="1284140"/>
            <a:ext cx="7848600" cy="4771800"/>
          </a:xfrm>
          <a:prstGeom prst="rect">
            <a:avLst/>
          </a:prstGeom>
          <a:noFill/>
          <a:ln>
            <a:noFill/>
          </a:ln>
        </p:spPr>
        <p:txBody>
          <a:bodyPr spcFirstLastPara="1" wrap="square" lIns="91425" tIns="91425" rIns="91425" bIns="91425" anchor="t" anchorCtr="0">
            <a:noAutofit/>
          </a:bodyPr>
          <a:lstStyle/>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a:ea typeface="Times New Roman"/>
                <a:cs typeface="Times New Roman"/>
                <a:sym typeface="Times New Roman"/>
              </a:rPr>
              <a:t>Introduction</a:t>
            </a:r>
            <a:endParaRPr sz="2200" dirty="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a:ea typeface="Times New Roman"/>
                <a:cs typeface="Times New Roman"/>
                <a:sym typeface="Times New Roman"/>
              </a:rPr>
              <a:t>Problem Statement</a:t>
            </a:r>
            <a:endParaRPr sz="2200" dirty="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a:ea typeface="Times New Roman"/>
                <a:cs typeface="Times New Roman"/>
                <a:sym typeface="Times New Roman"/>
              </a:rPr>
              <a:t>Objectives</a:t>
            </a:r>
            <a:endParaRPr sz="2200" dirty="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a:ea typeface="Times New Roman"/>
                <a:cs typeface="Times New Roman"/>
                <a:sym typeface="Times New Roman"/>
              </a:rPr>
              <a:t>Concepts &amp; Methods</a:t>
            </a:r>
            <a:endParaRPr sz="2200" dirty="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a:ea typeface="Times New Roman"/>
                <a:cs typeface="Times New Roman"/>
                <a:sym typeface="Times New Roman"/>
              </a:rPr>
              <a:t>Literature Review </a:t>
            </a:r>
            <a:endParaRPr sz="2200" dirty="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a:ea typeface="Times New Roman"/>
                <a:cs typeface="Times New Roman"/>
                <a:sym typeface="Times New Roman"/>
              </a:rPr>
              <a:t>Identification of gaps &amp; scope of work </a:t>
            </a:r>
            <a:endParaRPr sz="2200" dirty="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a:ea typeface="Times New Roman"/>
                <a:cs typeface="Times New Roman"/>
                <a:sym typeface="Times New Roman"/>
              </a:rPr>
              <a:t>Implementation </a:t>
            </a:r>
            <a:endParaRPr sz="2200" dirty="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a:ea typeface="Times New Roman"/>
                <a:cs typeface="Times New Roman"/>
                <a:sym typeface="Times New Roman"/>
              </a:rPr>
              <a:t>Reference</a:t>
            </a:r>
            <a:endParaRPr sz="2200" dirty="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a:ea typeface="Times New Roman"/>
                <a:cs typeface="Times New Roman"/>
                <a:sym typeface="Times New Roman"/>
              </a:rPr>
              <a:t>Q&amp;A</a:t>
            </a:r>
            <a:endParaRPr sz="2200"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None/>
            </a:pPr>
            <a:endParaRPr sz="22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3</a:t>
            </a:fld>
            <a:endParaRPr/>
          </a:p>
        </p:txBody>
      </p:sp>
      <p:sp>
        <p:nvSpPr>
          <p:cNvPr id="66" name="Google Shape;66;p4"/>
          <p:cNvSpPr txBox="1"/>
          <p:nvPr/>
        </p:nvSpPr>
        <p:spPr>
          <a:xfrm>
            <a:off x="417107" y="224589"/>
            <a:ext cx="8010300" cy="578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a:solidFill>
                  <a:srgbClr val="073763"/>
                </a:solidFill>
                <a:latin typeface="Times New Roman"/>
                <a:ea typeface="Times New Roman"/>
                <a:cs typeface="Times New Roman"/>
                <a:sym typeface="Times New Roman"/>
              </a:rPr>
              <a:t>Introduction</a:t>
            </a:r>
            <a:r>
              <a:rPr lang="en-US" sz="2200" b="0" i="0" u="none" strike="noStrike" cap="none">
                <a:solidFill>
                  <a:srgbClr val="073763"/>
                </a:solidFill>
                <a:latin typeface="Times New Roman"/>
                <a:ea typeface="Times New Roman"/>
                <a:cs typeface="Times New Roman"/>
                <a:sym typeface="Times New Roman"/>
              </a:rPr>
              <a:t> </a:t>
            </a:r>
            <a:endParaRPr>
              <a:solidFill>
                <a:srgbClr val="073763"/>
              </a:solidFill>
            </a:endParaRPr>
          </a:p>
        </p:txBody>
      </p:sp>
      <p:sp>
        <p:nvSpPr>
          <p:cNvPr id="67" name="Google Shape;67;p4"/>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dirty="0">
                <a:solidFill>
                  <a:srgbClr val="C00000"/>
                </a:solidFill>
                <a:latin typeface="Times New Roman"/>
                <a:ea typeface="Times New Roman"/>
                <a:cs typeface="Times New Roman"/>
                <a:sym typeface="Times New Roman"/>
              </a:rPr>
              <a:t>Department of Computer Science &amp; Engineering, </a:t>
            </a:r>
            <a:r>
              <a:rPr lang="en-US" sz="1800" b="1" i="1" u="none" strike="noStrike" cap="none" dirty="0" err="1">
                <a:solidFill>
                  <a:srgbClr val="C00000"/>
                </a:solidFill>
                <a:latin typeface="Times New Roman"/>
                <a:ea typeface="Times New Roman"/>
                <a:cs typeface="Times New Roman"/>
                <a:sym typeface="Times New Roman"/>
              </a:rPr>
              <a:t>MITSoC</a:t>
            </a:r>
            <a:r>
              <a:rPr lang="en-US" sz="1800" b="1" i="1" u="none" strike="noStrike" cap="none" dirty="0">
                <a:solidFill>
                  <a:srgbClr val="C00000"/>
                </a:solidFill>
                <a:latin typeface="Times New Roman"/>
                <a:ea typeface="Times New Roman"/>
                <a:cs typeface="Times New Roman"/>
                <a:sym typeface="Times New Roman"/>
              </a:rPr>
              <a:t>, Loni </a:t>
            </a:r>
            <a:r>
              <a:rPr lang="en-US" sz="1800" b="1" i="1" u="none" strike="noStrike" cap="none" dirty="0" err="1">
                <a:solidFill>
                  <a:srgbClr val="C00000"/>
                </a:solidFill>
                <a:latin typeface="Times New Roman"/>
                <a:ea typeface="Times New Roman"/>
                <a:cs typeface="Times New Roman"/>
                <a:sym typeface="Times New Roman"/>
              </a:rPr>
              <a:t>Kalbhor</a:t>
            </a:r>
            <a:endParaRPr sz="1800" b="1" i="1" u="none" strike="noStrike" cap="none" dirty="0">
              <a:solidFill>
                <a:srgbClr val="C00000"/>
              </a:solidFill>
              <a:latin typeface="Times New Roman"/>
              <a:ea typeface="Times New Roman"/>
              <a:cs typeface="Times New Roman"/>
              <a:sym typeface="Times New Roman"/>
            </a:endParaRPr>
          </a:p>
        </p:txBody>
      </p:sp>
      <p:pic>
        <p:nvPicPr>
          <p:cNvPr id="68" name="Google Shape;68;p4"/>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69" name="Google Shape;69;p4"/>
          <p:cNvSpPr txBox="1"/>
          <p:nvPr/>
        </p:nvSpPr>
        <p:spPr>
          <a:xfrm>
            <a:off x="489450" y="903763"/>
            <a:ext cx="8088900" cy="1908184"/>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US" dirty="0"/>
              <a:t>Eventology is an innovative event management platform crafted for seamless organization and management of college events. Developed using HTML, CSS, and Flask, it offers an intuitive interface where users can browse and register for events effortlessly. The platform is designed to send timely notifications to participants, ensuring they remain informed about their commitments. For event managers, Eventology simplifies tasks by providing tools for creating, editing, and monitoring events without hassle. This structured, digital approach minimizes manual processes, reduces miscommunication, and enhances student engagement by making event participation more accessible and interactive.</a:t>
            </a:r>
            <a:endParaRPr dirty="0"/>
          </a:p>
        </p:txBody>
      </p:sp>
      <p:pic>
        <p:nvPicPr>
          <p:cNvPr id="2" name="Picture 1">
            <a:extLst>
              <a:ext uri="{FF2B5EF4-FFF2-40B4-BE49-F238E27FC236}">
                <a16:creationId xmlns:a16="http://schemas.microsoft.com/office/drawing/2014/main" id="{78CC495D-B44F-AEF8-A847-4F0801119685}"/>
              </a:ext>
            </a:extLst>
          </p:cNvPr>
          <p:cNvPicPr>
            <a:picLocks noChangeAspect="1"/>
          </p:cNvPicPr>
          <p:nvPr/>
        </p:nvPicPr>
        <p:blipFill>
          <a:blip r:embed="rId4"/>
          <a:stretch>
            <a:fillRect/>
          </a:stretch>
        </p:blipFill>
        <p:spPr>
          <a:xfrm>
            <a:off x="248096" y="3048641"/>
            <a:ext cx="3776218" cy="2434147"/>
          </a:xfrm>
          <a:prstGeom prst="rect">
            <a:avLst/>
          </a:prstGeom>
        </p:spPr>
      </p:pic>
      <p:pic>
        <p:nvPicPr>
          <p:cNvPr id="4" name="Picture 3">
            <a:extLst>
              <a:ext uri="{FF2B5EF4-FFF2-40B4-BE49-F238E27FC236}">
                <a16:creationId xmlns:a16="http://schemas.microsoft.com/office/drawing/2014/main" id="{BDACC38E-CFB1-0688-B679-A696358CD668}"/>
              </a:ext>
            </a:extLst>
          </p:cNvPr>
          <p:cNvPicPr>
            <a:picLocks noChangeAspect="1"/>
          </p:cNvPicPr>
          <p:nvPr/>
        </p:nvPicPr>
        <p:blipFill>
          <a:blip r:embed="rId5"/>
          <a:stretch>
            <a:fillRect/>
          </a:stretch>
        </p:blipFill>
        <p:spPr>
          <a:xfrm>
            <a:off x="4118582" y="3048641"/>
            <a:ext cx="4930196" cy="23456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6"/>
          <p:cNvSpPr txBox="1">
            <a:spLocks noGrp="1"/>
          </p:cNvSpPr>
          <p:nvPr>
            <p:ph type="sldNum" idx="12"/>
          </p:nvPr>
        </p:nvSpPr>
        <p:spPr>
          <a:xfrm>
            <a:off x="6583680" y="6377940"/>
            <a:ext cx="210300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4</a:t>
            </a:fld>
            <a:endParaRPr/>
          </a:p>
        </p:txBody>
      </p:sp>
      <p:sp>
        <p:nvSpPr>
          <p:cNvPr id="76" name="Google Shape;76;p6"/>
          <p:cNvSpPr txBox="1"/>
          <p:nvPr/>
        </p:nvSpPr>
        <p:spPr>
          <a:xfrm>
            <a:off x="528744" y="325664"/>
            <a:ext cx="8010300" cy="578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a:solidFill>
                  <a:srgbClr val="073763"/>
                </a:solidFill>
                <a:latin typeface="Times New Roman"/>
                <a:ea typeface="Times New Roman"/>
                <a:cs typeface="Times New Roman"/>
                <a:sym typeface="Times New Roman"/>
              </a:rPr>
              <a:t>Problem Statement</a:t>
            </a:r>
            <a:r>
              <a:rPr lang="en-US" sz="2200" b="0" i="0" u="none" strike="noStrike" cap="none">
                <a:solidFill>
                  <a:srgbClr val="073763"/>
                </a:solidFill>
                <a:latin typeface="Times New Roman"/>
                <a:ea typeface="Times New Roman"/>
                <a:cs typeface="Times New Roman"/>
                <a:sym typeface="Times New Roman"/>
              </a:rPr>
              <a:t> </a:t>
            </a:r>
            <a:endParaRPr>
              <a:solidFill>
                <a:srgbClr val="073763"/>
              </a:solidFill>
            </a:endParaRPr>
          </a:p>
        </p:txBody>
      </p:sp>
      <p:sp>
        <p:nvSpPr>
          <p:cNvPr id="77" name="Google Shape;77;p6"/>
          <p:cNvSpPr txBox="1"/>
          <p:nvPr/>
        </p:nvSpPr>
        <p:spPr>
          <a:xfrm>
            <a:off x="1379346" y="6104088"/>
            <a:ext cx="7378800" cy="672900"/>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dirty="0">
                <a:solidFill>
                  <a:srgbClr val="C00000"/>
                </a:solidFill>
                <a:latin typeface="Times New Roman"/>
                <a:ea typeface="Times New Roman"/>
                <a:cs typeface="Times New Roman"/>
                <a:sym typeface="Times New Roman"/>
              </a:rPr>
              <a:t>Department of Computer Science &amp; Engineering, </a:t>
            </a:r>
            <a:r>
              <a:rPr lang="en-US" sz="1800" b="1" i="1" u="none" strike="noStrike" cap="none" dirty="0" err="1">
                <a:solidFill>
                  <a:srgbClr val="C00000"/>
                </a:solidFill>
                <a:latin typeface="Times New Roman"/>
                <a:ea typeface="Times New Roman"/>
                <a:cs typeface="Times New Roman"/>
                <a:sym typeface="Times New Roman"/>
              </a:rPr>
              <a:t>MITSoC</a:t>
            </a:r>
            <a:r>
              <a:rPr lang="en-US" sz="1800" b="1" i="1" u="none" strike="noStrike" cap="none" dirty="0">
                <a:solidFill>
                  <a:srgbClr val="C00000"/>
                </a:solidFill>
                <a:latin typeface="Times New Roman"/>
                <a:ea typeface="Times New Roman"/>
                <a:cs typeface="Times New Roman"/>
                <a:sym typeface="Times New Roman"/>
              </a:rPr>
              <a:t>, Loni </a:t>
            </a:r>
            <a:r>
              <a:rPr lang="en-US" sz="1800" b="1" i="1" u="none" strike="noStrike" cap="none" dirty="0" err="1">
                <a:solidFill>
                  <a:srgbClr val="C00000"/>
                </a:solidFill>
                <a:latin typeface="Times New Roman"/>
                <a:ea typeface="Times New Roman"/>
                <a:cs typeface="Times New Roman"/>
                <a:sym typeface="Times New Roman"/>
              </a:rPr>
              <a:t>Kalbhor</a:t>
            </a:r>
            <a:endParaRPr sz="1800" b="1" i="1" u="none" strike="noStrike" cap="none" dirty="0">
              <a:solidFill>
                <a:srgbClr val="C00000"/>
              </a:solidFill>
              <a:latin typeface="Times New Roman"/>
              <a:ea typeface="Times New Roman"/>
              <a:cs typeface="Times New Roman"/>
              <a:sym typeface="Times New Roman"/>
            </a:endParaRPr>
          </a:p>
        </p:txBody>
      </p:sp>
      <p:pic>
        <p:nvPicPr>
          <p:cNvPr id="78" name="Google Shape;78;p6"/>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79" name="Google Shape;79;p6"/>
          <p:cNvSpPr txBox="1"/>
          <p:nvPr/>
        </p:nvSpPr>
        <p:spPr>
          <a:xfrm>
            <a:off x="178554" y="870052"/>
            <a:ext cx="8088900" cy="1692741"/>
          </a:xfrm>
          <a:prstGeom prst="rect">
            <a:avLst/>
          </a:prstGeom>
          <a:noFill/>
          <a:ln>
            <a:noFill/>
          </a:ln>
        </p:spPr>
        <p:txBody>
          <a:bodyPr spcFirstLastPara="1" wrap="square" lIns="91425" tIns="91425" rIns="91425" bIns="91425" anchor="t" anchorCtr="0">
            <a:spAutoFit/>
          </a:bodyPr>
          <a:lstStyle/>
          <a:p>
            <a:pPr marL="742950" lvl="0" indent="-285750" algn="just" rtl="0">
              <a:spcBef>
                <a:spcPts val="0"/>
              </a:spcBef>
              <a:spcAft>
                <a:spcPts val="0"/>
              </a:spcAft>
              <a:buFont typeface="Arial" panose="020B0604020202020204" pitchFamily="34" charset="0"/>
              <a:buChar char="•"/>
            </a:pPr>
            <a:r>
              <a:rPr lang="en-US" b="1" dirty="0"/>
              <a:t>Current Challenge:</a:t>
            </a:r>
            <a:r>
              <a:rPr lang="en-US" dirty="0"/>
              <a:t> College event promotion is often manual, leading to inefficiencies in event management and participant engagement.</a:t>
            </a:r>
          </a:p>
          <a:p>
            <a:pPr marL="457200" lvl="0" rtl="0">
              <a:spcBef>
                <a:spcPts val="0"/>
              </a:spcBef>
              <a:spcAft>
                <a:spcPts val="0"/>
              </a:spcAft>
            </a:pPr>
            <a:endParaRPr lang="en-US" dirty="0"/>
          </a:p>
          <a:p>
            <a:pPr marL="742950" lvl="0" indent="-285750" algn="just" rtl="0">
              <a:spcBef>
                <a:spcPts val="0"/>
              </a:spcBef>
              <a:spcAft>
                <a:spcPts val="0"/>
              </a:spcAft>
              <a:buFont typeface="Arial" panose="020B0604020202020204" pitchFamily="34" charset="0"/>
              <a:buChar char="•"/>
            </a:pPr>
            <a:r>
              <a:rPr lang="en-US" b="1" dirty="0"/>
              <a:t>Impact: </a:t>
            </a:r>
            <a:r>
              <a:rPr lang="en-US" dirty="0"/>
              <a:t>Limited reach and attendance, and high administrative workload.</a:t>
            </a:r>
          </a:p>
          <a:p>
            <a:pPr marL="457200" lvl="0" algn="just" rtl="0">
              <a:spcBef>
                <a:spcPts val="0"/>
              </a:spcBef>
              <a:spcAft>
                <a:spcPts val="0"/>
              </a:spcAft>
            </a:pPr>
            <a:endParaRPr lang="en-US" dirty="0"/>
          </a:p>
          <a:p>
            <a:pPr marL="742950" lvl="0" indent="-285750" algn="just" rtl="0">
              <a:spcBef>
                <a:spcPts val="0"/>
              </a:spcBef>
              <a:spcAft>
                <a:spcPts val="0"/>
              </a:spcAft>
              <a:buFont typeface="Arial" panose="020B0604020202020204" pitchFamily="34" charset="0"/>
              <a:buChar char="•"/>
            </a:pPr>
            <a:r>
              <a:rPr lang="en-US" b="1" dirty="0"/>
              <a:t>Proposed Solution</a:t>
            </a:r>
            <a:r>
              <a:rPr lang="en-US" dirty="0"/>
              <a:t>: A centralized platform that automates event registration, reminder notifications, and event management.</a:t>
            </a:r>
            <a:endParaRPr dirty="0"/>
          </a:p>
        </p:txBody>
      </p:sp>
      <p:sp>
        <p:nvSpPr>
          <p:cNvPr id="80" name="Google Shape;80;p6"/>
          <p:cNvSpPr txBox="1"/>
          <p:nvPr/>
        </p:nvSpPr>
        <p:spPr>
          <a:xfrm>
            <a:off x="528744" y="3052445"/>
            <a:ext cx="8088900" cy="2554515"/>
          </a:xfrm>
          <a:prstGeom prst="rect">
            <a:avLst/>
          </a:prstGeom>
          <a:noFill/>
          <a:ln>
            <a:noFill/>
          </a:ln>
        </p:spPr>
        <p:txBody>
          <a:bodyPr spcFirstLastPara="1" wrap="square" lIns="91425" tIns="91425" rIns="91425" bIns="91425" anchor="t" anchorCtr="0">
            <a:spAutoFit/>
          </a:bodyPr>
          <a:lstStyle/>
          <a:p>
            <a:r>
              <a:rPr lang="en-US" b="1" dirty="0"/>
              <a:t>User Goals</a:t>
            </a:r>
            <a:r>
              <a:rPr lang="en-US" dirty="0"/>
              <a:t>:</a:t>
            </a:r>
          </a:p>
          <a:p>
            <a:pPr marL="742950" lvl="1" indent="-285750">
              <a:buFont typeface="Arial" panose="020B0604020202020204" pitchFamily="34" charset="0"/>
              <a:buChar char="•"/>
            </a:pPr>
            <a:r>
              <a:rPr lang="en-US" dirty="0"/>
              <a:t>View upcoming events and register for them.</a:t>
            </a:r>
          </a:p>
          <a:p>
            <a:pPr marL="742950" lvl="1" indent="-285750">
              <a:buFont typeface="Arial" panose="020B0604020202020204" pitchFamily="34" charset="0"/>
              <a:buChar char="•"/>
            </a:pPr>
            <a:r>
              <a:rPr lang="en-US" dirty="0"/>
              <a:t>Receive reminders for registered events.</a:t>
            </a:r>
          </a:p>
          <a:p>
            <a:pPr marL="457200" lvl="1"/>
            <a:endParaRPr lang="en-US" dirty="0"/>
          </a:p>
          <a:p>
            <a:r>
              <a:rPr lang="en-US" b="1" dirty="0"/>
              <a:t>Admin Goals</a:t>
            </a:r>
            <a:r>
              <a:rPr lang="en-US" dirty="0"/>
              <a:t>:</a:t>
            </a:r>
          </a:p>
          <a:p>
            <a:pPr marL="742950" lvl="1" indent="-285750">
              <a:buFont typeface="Arial" panose="020B0604020202020204" pitchFamily="34" charset="0"/>
              <a:buChar char="•"/>
            </a:pPr>
            <a:r>
              <a:rPr lang="en-US" dirty="0"/>
              <a:t>Create, edit, and manage event details.</a:t>
            </a:r>
          </a:p>
          <a:p>
            <a:pPr marL="742950" lvl="1" indent="-285750">
              <a:buFont typeface="Arial" panose="020B0604020202020204" pitchFamily="34" charset="0"/>
              <a:buChar char="•"/>
            </a:pPr>
            <a:r>
              <a:rPr lang="en-US" dirty="0"/>
              <a:t>Track registrations and send notifications.</a:t>
            </a:r>
          </a:p>
          <a:p>
            <a:pPr marL="742950" lvl="1" indent="-285750">
              <a:buFont typeface="Arial" panose="020B0604020202020204" pitchFamily="34" charset="0"/>
              <a:buChar char="•"/>
            </a:pPr>
            <a:endParaRPr lang="en-US" dirty="0"/>
          </a:p>
          <a:p>
            <a:r>
              <a:rPr lang="en-US" b="1" dirty="0"/>
              <a:t>Platform Goals</a:t>
            </a:r>
            <a:r>
              <a:rPr lang="en-US" dirty="0"/>
              <a:t>:</a:t>
            </a:r>
          </a:p>
          <a:p>
            <a:pPr marL="742950" lvl="1" indent="-285750">
              <a:buFont typeface="Arial" panose="020B0604020202020204" pitchFamily="34" charset="0"/>
              <a:buChar char="•"/>
            </a:pPr>
            <a:r>
              <a:rPr lang="en-US" dirty="0"/>
              <a:t>Ensure a user-friendly interface and secure data handling.</a:t>
            </a:r>
          </a:p>
          <a:p>
            <a:pPr marL="742950" lvl="1" indent="-285750">
              <a:buFont typeface="Arial" panose="020B0604020202020204" pitchFamily="34" charset="0"/>
              <a:buChar char="•"/>
            </a:pPr>
            <a:r>
              <a:rPr lang="en-US" dirty="0"/>
              <a:t>Provide seamless communication between frontend and backend components.</a:t>
            </a:r>
          </a:p>
        </p:txBody>
      </p:sp>
      <p:sp>
        <p:nvSpPr>
          <p:cNvPr id="81" name="Google Shape;81;p6"/>
          <p:cNvSpPr txBox="1"/>
          <p:nvPr/>
        </p:nvSpPr>
        <p:spPr>
          <a:xfrm>
            <a:off x="528744" y="2529081"/>
            <a:ext cx="8010300" cy="578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dirty="0">
                <a:solidFill>
                  <a:srgbClr val="073763"/>
                </a:solidFill>
                <a:latin typeface="Times New Roman"/>
                <a:ea typeface="Times New Roman"/>
                <a:cs typeface="Times New Roman"/>
                <a:sym typeface="Times New Roman"/>
              </a:rPr>
              <a:t>Objectives</a:t>
            </a:r>
            <a:r>
              <a:rPr lang="en-US" sz="2200" b="0" i="0" u="none" strike="noStrike" cap="none" dirty="0">
                <a:solidFill>
                  <a:srgbClr val="073763"/>
                </a:solidFill>
                <a:latin typeface="Times New Roman"/>
                <a:ea typeface="Times New Roman"/>
                <a:cs typeface="Times New Roman"/>
                <a:sym typeface="Times New Roman"/>
              </a:rPr>
              <a:t> </a:t>
            </a:r>
            <a:endParaRPr dirty="0">
              <a:solidFill>
                <a:srgbClr val="07376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8"/>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5</a:t>
            </a:fld>
            <a:endParaRPr/>
          </a:p>
        </p:txBody>
      </p:sp>
      <p:sp>
        <p:nvSpPr>
          <p:cNvPr id="87" name="Google Shape;87;p8"/>
          <p:cNvSpPr txBox="1"/>
          <p:nvPr/>
        </p:nvSpPr>
        <p:spPr>
          <a:xfrm>
            <a:off x="388814" y="162709"/>
            <a:ext cx="8010300" cy="578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dirty="0">
                <a:solidFill>
                  <a:srgbClr val="C00000"/>
                </a:solidFill>
                <a:latin typeface="Times New Roman"/>
                <a:ea typeface="Times New Roman"/>
                <a:cs typeface="Times New Roman"/>
                <a:sym typeface="Times New Roman"/>
              </a:rPr>
              <a:t>4. Concepts and Methods</a:t>
            </a:r>
            <a:r>
              <a:rPr lang="en-US" sz="2200" b="0" i="0" u="none" strike="noStrike" cap="none" dirty="0">
                <a:solidFill>
                  <a:srgbClr val="C00000"/>
                </a:solidFill>
                <a:latin typeface="Times New Roman"/>
                <a:ea typeface="Times New Roman"/>
                <a:cs typeface="Times New Roman"/>
                <a:sym typeface="Times New Roman"/>
              </a:rPr>
              <a:t> </a:t>
            </a:r>
            <a:endParaRPr dirty="0"/>
          </a:p>
        </p:txBody>
      </p:sp>
      <p:sp>
        <p:nvSpPr>
          <p:cNvPr id="88" name="Google Shape;88;p8"/>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dirty="0">
                <a:solidFill>
                  <a:srgbClr val="C00000"/>
                </a:solidFill>
                <a:latin typeface="Times New Roman"/>
                <a:ea typeface="Times New Roman"/>
                <a:cs typeface="Times New Roman"/>
                <a:sym typeface="Times New Roman"/>
              </a:rPr>
              <a:t>Department of Computer Science &amp; Engineering, </a:t>
            </a:r>
            <a:r>
              <a:rPr lang="en-US" sz="1800" b="1" i="1" u="none" strike="noStrike" cap="none" dirty="0" err="1">
                <a:solidFill>
                  <a:srgbClr val="C00000"/>
                </a:solidFill>
                <a:latin typeface="Times New Roman"/>
                <a:ea typeface="Times New Roman"/>
                <a:cs typeface="Times New Roman"/>
                <a:sym typeface="Times New Roman"/>
              </a:rPr>
              <a:t>MITSoC</a:t>
            </a:r>
            <a:r>
              <a:rPr lang="en-US" sz="1800" b="1" i="1" u="none" strike="noStrike" cap="none" dirty="0">
                <a:solidFill>
                  <a:srgbClr val="C00000"/>
                </a:solidFill>
                <a:latin typeface="Times New Roman"/>
                <a:ea typeface="Times New Roman"/>
                <a:cs typeface="Times New Roman"/>
                <a:sym typeface="Times New Roman"/>
              </a:rPr>
              <a:t>, Loni </a:t>
            </a:r>
            <a:r>
              <a:rPr lang="en-US" sz="1800" b="1" i="1" u="none" strike="noStrike" cap="none" dirty="0" err="1">
                <a:solidFill>
                  <a:srgbClr val="C00000"/>
                </a:solidFill>
                <a:latin typeface="Times New Roman"/>
                <a:ea typeface="Times New Roman"/>
                <a:cs typeface="Times New Roman"/>
                <a:sym typeface="Times New Roman"/>
              </a:rPr>
              <a:t>Kalbhor</a:t>
            </a:r>
            <a:endParaRPr sz="1800" b="1" i="1" u="none" strike="noStrike" cap="none" dirty="0">
              <a:solidFill>
                <a:srgbClr val="C00000"/>
              </a:solidFill>
              <a:latin typeface="Times New Roman"/>
              <a:ea typeface="Times New Roman"/>
              <a:cs typeface="Times New Roman"/>
              <a:sym typeface="Times New Roman"/>
            </a:endParaRPr>
          </a:p>
        </p:txBody>
      </p:sp>
      <p:pic>
        <p:nvPicPr>
          <p:cNvPr id="89" name="Google Shape;89;p8"/>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90" name="Google Shape;90;p8"/>
          <p:cNvSpPr txBox="1"/>
          <p:nvPr/>
        </p:nvSpPr>
        <p:spPr>
          <a:xfrm>
            <a:off x="109966" y="840028"/>
            <a:ext cx="5689500" cy="3688672"/>
          </a:xfrm>
          <a:prstGeom prst="rect">
            <a:avLst/>
          </a:prstGeom>
          <a:noFill/>
          <a:ln>
            <a:noFill/>
          </a:ln>
        </p:spPr>
        <p:txBody>
          <a:bodyPr spcFirstLastPara="1" wrap="square" lIns="91425" tIns="91425" rIns="91425" bIns="91425" anchor="t" anchorCtr="0">
            <a:spAutoFit/>
          </a:bodyPr>
          <a:lstStyle/>
          <a:p>
            <a:pPr marL="171450" lvl="0" indent="-171450" algn="l" rtl="0">
              <a:lnSpc>
                <a:spcPct val="115000"/>
              </a:lnSpc>
              <a:spcBef>
                <a:spcPts val="0"/>
              </a:spcBef>
              <a:spcAft>
                <a:spcPts val="0"/>
              </a:spcAft>
              <a:buFont typeface="Arial" panose="020B0604020202020204" pitchFamily="34" charset="0"/>
              <a:buChar char="•"/>
            </a:pPr>
            <a:r>
              <a:rPr lang="en-US" sz="1800" b="1" dirty="0">
                <a:solidFill>
                  <a:srgbClr val="000000"/>
                </a:solidFill>
                <a:latin typeface="+mn-lt"/>
                <a:ea typeface="Calibri"/>
                <a:cs typeface="Calibri"/>
                <a:sym typeface="Calibri"/>
              </a:rPr>
              <a:t>Frontend: </a:t>
            </a:r>
            <a:r>
              <a:rPr lang="en-US" sz="1800" dirty="0">
                <a:solidFill>
                  <a:srgbClr val="000000"/>
                </a:solidFill>
                <a:latin typeface="+mn-lt"/>
                <a:ea typeface="Calibri"/>
                <a:cs typeface="Calibri"/>
                <a:sym typeface="Calibri"/>
              </a:rPr>
              <a:t>HTML,CSS for building interactive user interfaces.</a:t>
            </a:r>
          </a:p>
          <a:p>
            <a:pPr marL="171450" lvl="0" indent="-171450" algn="l" rtl="0">
              <a:lnSpc>
                <a:spcPct val="115000"/>
              </a:lnSpc>
              <a:spcBef>
                <a:spcPts val="0"/>
              </a:spcBef>
              <a:spcAft>
                <a:spcPts val="0"/>
              </a:spcAft>
              <a:buFont typeface="Arial" panose="020B0604020202020204" pitchFamily="34" charset="0"/>
              <a:buChar char="•"/>
            </a:pPr>
            <a:r>
              <a:rPr lang="en-US" sz="1800" b="1" dirty="0">
                <a:latin typeface="+mn-lt"/>
                <a:ea typeface="Calibri"/>
                <a:cs typeface="Calibri"/>
                <a:sym typeface="Calibri"/>
              </a:rPr>
              <a:t>B</a:t>
            </a:r>
            <a:r>
              <a:rPr lang="en-US" sz="1800" b="1" dirty="0">
                <a:solidFill>
                  <a:srgbClr val="000000"/>
                </a:solidFill>
                <a:latin typeface="+mn-lt"/>
                <a:ea typeface="Calibri"/>
                <a:cs typeface="Calibri"/>
                <a:sym typeface="Calibri"/>
              </a:rPr>
              <a:t>ackend: </a:t>
            </a:r>
            <a:r>
              <a:rPr lang="en-US" sz="1800" dirty="0">
                <a:solidFill>
                  <a:srgbClr val="000000"/>
                </a:solidFill>
                <a:latin typeface="+mn-lt"/>
                <a:ea typeface="Calibri"/>
                <a:cs typeface="Calibri"/>
                <a:sym typeface="Calibri"/>
              </a:rPr>
              <a:t>Flask for creating RESTful APIs and managing data.</a:t>
            </a:r>
          </a:p>
          <a:p>
            <a:pPr marL="171450" lvl="0" indent="-171450" algn="l" rtl="0">
              <a:lnSpc>
                <a:spcPct val="115000"/>
              </a:lnSpc>
              <a:spcBef>
                <a:spcPts val="0"/>
              </a:spcBef>
              <a:spcAft>
                <a:spcPts val="0"/>
              </a:spcAft>
              <a:buFont typeface="Arial" panose="020B0604020202020204" pitchFamily="34" charset="0"/>
              <a:buChar char="•"/>
            </a:pPr>
            <a:r>
              <a:rPr lang="en-US" sz="1800" b="1" dirty="0">
                <a:solidFill>
                  <a:srgbClr val="000000"/>
                </a:solidFill>
                <a:latin typeface="+mn-lt"/>
                <a:ea typeface="Calibri"/>
                <a:cs typeface="Calibri"/>
                <a:sym typeface="Calibri"/>
              </a:rPr>
              <a:t>Database: </a:t>
            </a:r>
            <a:r>
              <a:rPr lang="en-US" sz="1800" dirty="0">
                <a:solidFill>
                  <a:srgbClr val="000000"/>
                </a:solidFill>
                <a:latin typeface="+mn-lt"/>
                <a:ea typeface="Calibri"/>
                <a:cs typeface="Calibri"/>
                <a:sym typeface="Calibri"/>
              </a:rPr>
              <a:t>SQLALCHEMY for structured data storage.</a:t>
            </a:r>
          </a:p>
          <a:p>
            <a:pPr marL="171450" lvl="0" indent="-171450" algn="l" rtl="0">
              <a:lnSpc>
                <a:spcPct val="115000"/>
              </a:lnSpc>
              <a:spcBef>
                <a:spcPts val="0"/>
              </a:spcBef>
              <a:spcAft>
                <a:spcPts val="0"/>
              </a:spcAft>
              <a:buFont typeface="Arial" panose="020B0604020202020204" pitchFamily="34" charset="0"/>
              <a:buChar char="•"/>
            </a:pPr>
            <a:r>
              <a:rPr lang="en-US" sz="1800" b="1" dirty="0">
                <a:solidFill>
                  <a:srgbClr val="000000"/>
                </a:solidFill>
                <a:latin typeface="+mn-lt"/>
                <a:ea typeface="Calibri"/>
                <a:cs typeface="Calibri"/>
                <a:sym typeface="Calibri"/>
              </a:rPr>
              <a:t>Authentication: </a:t>
            </a:r>
            <a:r>
              <a:rPr lang="en-US" sz="1800" dirty="0">
                <a:solidFill>
                  <a:srgbClr val="000000"/>
                </a:solidFill>
                <a:latin typeface="+mn-lt"/>
                <a:ea typeface="Calibri"/>
                <a:cs typeface="Calibri"/>
                <a:sym typeface="Calibri"/>
              </a:rPr>
              <a:t>Implementation of JWT or session-based authentication for secure login.</a:t>
            </a:r>
          </a:p>
          <a:p>
            <a:pPr marL="171450" lvl="0" indent="-171450" algn="l" rtl="0">
              <a:lnSpc>
                <a:spcPct val="115000"/>
              </a:lnSpc>
              <a:spcBef>
                <a:spcPts val="0"/>
              </a:spcBef>
              <a:spcAft>
                <a:spcPts val="0"/>
              </a:spcAft>
              <a:buFont typeface="Arial" panose="020B0604020202020204" pitchFamily="34" charset="0"/>
              <a:buChar char="•"/>
            </a:pPr>
            <a:r>
              <a:rPr lang="en-US" sz="1800" b="1" dirty="0">
                <a:solidFill>
                  <a:srgbClr val="000000"/>
                </a:solidFill>
                <a:latin typeface="+mn-lt"/>
                <a:ea typeface="Calibri"/>
                <a:cs typeface="Calibri"/>
                <a:sym typeface="Calibri"/>
              </a:rPr>
              <a:t>Data Flow: </a:t>
            </a:r>
            <a:r>
              <a:rPr lang="en-US" sz="1800" dirty="0">
                <a:solidFill>
                  <a:srgbClr val="000000"/>
                </a:solidFill>
                <a:latin typeface="+mn-lt"/>
                <a:ea typeface="Calibri"/>
                <a:cs typeface="Calibri"/>
                <a:sym typeface="Calibri"/>
              </a:rPr>
              <a:t>User interactions trigger API calls from HTML to Flask, which processes and returns data to be displayed.</a:t>
            </a:r>
          </a:p>
        </p:txBody>
      </p:sp>
      <p:pic>
        <p:nvPicPr>
          <p:cNvPr id="2" name="Picture 1">
            <a:extLst>
              <a:ext uri="{FF2B5EF4-FFF2-40B4-BE49-F238E27FC236}">
                <a16:creationId xmlns:a16="http://schemas.microsoft.com/office/drawing/2014/main" id="{F8FFA993-970B-BA18-C8B1-E1324AA52F6C}"/>
              </a:ext>
            </a:extLst>
          </p:cNvPr>
          <p:cNvPicPr>
            <a:picLocks noChangeAspect="1"/>
          </p:cNvPicPr>
          <p:nvPr/>
        </p:nvPicPr>
        <p:blipFill>
          <a:blip r:embed="rId4"/>
          <a:stretch>
            <a:fillRect/>
          </a:stretch>
        </p:blipFill>
        <p:spPr>
          <a:xfrm>
            <a:off x="5717009" y="1156988"/>
            <a:ext cx="3426991" cy="320678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9"/>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6</a:t>
            </a:fld>
            <a:endParaRPr/>
          </a:p>
        </p:txBody>
      </p:sp>
      <p:sp>
        <p:nvSpPr>
          <p:cNvPr id="100" name="Google Shape;100;p9"/>
          <p:cNvSpPr txBox="1"/>
          <p:nvPr/>
        </p:nvSpPr>
        <p:spPr>
          <a:xfrm>
            <a:off x="417094" y="224589"/>
            <a:ext cx="8010213" cy="5780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a:solidFill>
                  <a:srgbClr val="C00000"/>
                </a:solidFill>
                <a:latin typeface="Times New Roman"/>
                <a:ea typeface="Times New Roman"/>
                <a:cs typeface="Times New Roman"/>
                <a:sym typeface="Times New Roman"/>
              </a:rPr>
              <a:t>5. Literature Survey</a:t>
            </a:r>
            <a:r>
              <a:rPr lang="en-US" sz="2200" b="0" i="0" u="none" strike="noStrike" cap="none">
                <a:solidFill>
                  <a:srgbClr val="C00000"/>
                </a:solidFill>
                <a:latin typeface="Times New Roman"/>
                <a:ea typeface="Times New Roman"/>
                <a:cs typeface="Times New Roman"/>
                <a:sym typeface="Times New Roman"/>
              </a:rPr>
              <a:t> </a:t>
            </a:r>
            <a:endParaRPr/>
          </a:p>
        </p:txBody>
      </p:sp>
      <p:sp>
        <p:nvSpPr>
          <p:cNvPr id="101" name="Google Shape;101;p9"/>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dirty="0">
                <a:solidFill>
                  <a:srgbClr val="C00000"/>
                </a:solidFill>
                <a:latin typeface="Times New Roman"/>
                <a:ea typeface="Times New Roman"/>
                <a:cs typeface="Times New Roman"/>
                <a:sym typeface="Times New Roman"/>
              </a:rPr>
              <a:t>Department of Computer Science &amp; Engineering, </a:t>
            </a:r>
            <a:r>
              <a:rPr lang="en-US" sz="1800" b="1" i="1" u="none" strike="noStrike" cap="none" dirty="0" err="1">
                <a:solidFill>
                  <a:srgbClr val="C00000"/>
                </a:solidFill>
                <a:latin typeface="Times New Roman"/>
                <a:ea typeface="Times New Roman"/>
                <a:cs typeface="Times New Roman"/>
                <a:sym typeface="Times New Roman"/>
              </a:rPr>
              <a:t>MITSoC</a:t>
            </a:r>
            <a:r>
              <a:rPr lang="en-US" sz="1800" b="1" i="1" u="none" strike="noStrike" cap="none" dirty="0">
                <a:solidFill>
                  <a:srgbClr val="C00000"/>
                </a:solidFill>
                <a:latin typeface="Times New Roman"/>
                <a:ea typeface="Times New Roman"/>
                <a:cs typeface="Times New Roman"/>
                <a:sym typeface="Times New Roman"/>
              </a:rPr>
              <a:t>, Loni </a:t>
            </a:r>
            <a:r>
              <a:rPr lang="en-US" sz="1800" b="1" i="1" u="none" strike="noStrike" cap="none" dirty="0" err="1">
                <a:solidFill>
                  <a:srgbClr val="C00000"/>
                </a:solidFill>
                <a:latin typeface="Times New Roman"/>
                <a:ea typeface="Times New Roman"/>
                <a:cs typeface="Times New Roman"/>
                <a:sym typeface="Times New Roman"/>
              </a:rPr>
              <a:t>Kalbhor</a:t>
            </a:r>
            <a:endParaRPr sz="1800" b="1" i="1" u="none" strike="noStrike" cap="none" dirty="0">
              <a:solidFill>
                <a:srgbClr val="C00000"/>
              </a:solidFill>
              <a:latin typeface="Times New Roman"/>
              <a:ea typeface="Times New Roman"/>
              <a:cs typeface="Times New Roman"/>
              <a:sym typeface="Times New Roman"/>
            </a:endParaRPr>
          </a:p>
        </p:txBody>
      </p:sp>
      <p:pic>
        <p:nvPicPr>
          <p:cNvPr id="102" name="Google Shape;102;p9"/>
          <p:cNvPicPr preferRelativeResize="0"/>
          <p:nvPr/>
        </p:nvPicPr>
        <p:blipFill rotWithShape="1">
          <a:blip r:embed="rId3">
            <a:alphaModFix/>
          </a:blip>
          <a:srcRect/>
          <a:stretch/>
        </p:blipFill>
        <p:spPr>
          <a:xfrm>
            <a:off x="0" y="5812967"/>
            <a:ext cx="999854" cy="1020451"/>
          </a:xfrm>
          <a:prstGeom prst="rect">
            <a:avLst/>
          </a:prstGeom>
          <a:noFill/>
          <a:ln>
            <a:noFill/>
          </a:ln>
        </p:spPr>
      </p:pic>
      <p:graphicFrame>
        <p:nvGraphicFramePr>
          <p:cNvPr id="3" name="Google Shape;103;p9">
            <a:extLst>
              <a:ext uri="{FF2B5EF4-FFF2-40B4-BE49-F238E27FC236}">
                <a16:creationId xmlns:a16="http://schemas.microsoft.com/office/drawing/2014/main" id="{358A9D5D-FA2E-2606-1BD1-1B30428FA383}"/>
              </a:ext>
            </a:extLst>
          </p:cNvPr>
          <p:cNvGraphicFramePr/>
          <p:nvPr>
            <p:extLst>
              <p:ext uri="{D42A27DB-BD31-4B8C-83A1-F6EECF244321}">
                <p14:modId xmlns:p14="http://schemas.microsoft.com/office/powerpoint/2010/main" val="3367382119"/>
              </p:ext>
            </p:extLst>
          </p:nvPr>
        </p:nvGraphicFramePr>
        <p:xfrm>
          <a:off x="249350" y="1198260"/>
          <a:ext cx="8591013" cy="3806060"/>
        </p:xfrm>
        <a:graphic>
          <a:graphicData uri="http://schemas.openxmlformats.org/drawingml/2006/table">
            <a:tbl>
              <a:tblPr>
                <a:noFill/>
                <a:tableStyleId>{6CB3F4C0-F2E8-4320-A34B-0B094AA10944}</a:tableStyleId>
              </a:tblPr>
              <a:tblGrid>
                <a:gridCol w="584488">
                  <a:extLst>
                    <a:ext uri="{9D8B030D-6E8A-4147-A177-3AD203B41FA5}">
                      <a16:colId xmlns:a16="http://schemas.microsoft.com/office/drawing/2014/main" val="20000"/>
                    </a:ext>
                  </a:extLst>
                </a:gridCol>
                <a:gridCol w="3141400">
                  <a:extLst>
                    <a:ext uri="{9D8B030D-6E8A-4147-A177-3AD203B41FA5}">
                      <a16:colId xmlns:a16="http://schemas.microsoft.com/office/drawing/2014/main" val="20001"/>
                    </a:ext>
                  </a:extLst>
                </a:gridCol>
                <a:gridCol w="1434925">
                  <a:extLst>
                    <a:ext uri="{9D8B030D-6E8A-4147-A177-3AD203B41FA5}">
                      <a16:colId xmlns:a16="http://schemas.microsoft.com/office/drawing/2014/main" val="20002"/>
                    </a:ext>
                  </a:extLst>
                </a:gridCol>
                <a:gridCol w="3430200">
                  <a:extLst>
                    <a:ext uri="{9D8B030D-6E8A-4147-A177-3AD203B41FA5}">
                      <a16:colId xmlns:a16="http://schemas.microsoft.com/office/drawing/2014/main" val="20003"/>
                    </a:ext>
                  </a:extLst>
                </a:gridCol>
              </a:tblGrid>
              <a:tr h="343650">
                <a:tc>
                  <a:txBody>
                    <a:bodyPr/>
                    <a:lstStyle/>
                    <a:p>
                      <a:pPr marL="0" lvl="0" indent="0" algn="l" rtl="0">
                        <a:spcBef>
                          <a:spcPts val="0"/>
                        </a:spcBef>
                        <a:spcAft>
                          <a:spcPts val="0"/>
                        </a:spcAft>
                        <a:buNone/>
                      </a:pPr>
                      <a:r>
                        <a:rPr lang="en-US" sz="1200" b="1">
                          <a:latin typeface="Calibri"/>
                          <a:ea typeface="Calibri"/>
                          <a:cs typeface="Calibri"/>
                          <a:sym typeface="Calibri"/>
                        </a:rPr>
                        <a:t>Sr. no</a:t>
                      </a:r>
                      <a:endParaRPr sz="1200" b="1">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US" sz="1200" b="1" dirty="0">
                          <a:latin typeface="Calibri"/>
                          <a:ea typeface="Calibri"/>
                          <a:cs typeface="Calibri"/>
                          <a:sym typeface="Calibri"/>
                        </a:rPr>
                        <a:t>Literature Title</a:t>
                      </a:r>
                      <a:endParaRPr sz="1200" b="1" dirty="0">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US" sz="1200" b="1">
                          <a:latin typeface="Calibri"/>
                          <a:ea typeface="Calibri"/>
                          <a:cs typeface="Calibri"/>
                          <a:sym typeface="Calibri"/>
                        </a:rPr>
                        <a:t>Author</a:t>
                      </a:r>
                      <a:endParaRPr sz="1200" b="1">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US" sz="1200" b="1">
                          <a:latin typeface="Calibri"/>
                          <a:ea typeface="Calibri"/>
                          <a:cs typeface="Calibri"/>
                          <a:sym typeface="Calibri"/>
                        </a:rPr>
                        <a:t>Findings</a:t>
                      </a:r>
                      <a:endParaRPr sz="1200" b="1">
                        <a:latin typeface="Calibri"/>
                        <a:ea typeface="Calibri"/>
                        <a:cs typeface="Calibri"/>
                        <a:sym typeface="Calibri"/>
                      </a:endParaRPr>
                    </a:p>
                  </a:txBody>
                  <a:tcPr marL="91425" marR="91425" marT="91425" marB="91425"/>
                </a:tc>
                <a:extLst>
                  <a:ext uri="{0D108BD9-81ED-4DB2-BD59-A6C34878D82A}">
                    <a16:rowId xmlns:a16="http://schemas.microsoft.com/office/drawing/2014/main" val="10000"/>
                  </a:ext>
                </a:extLst>
              </a:tr>
              <a:tr h="1202875">
                <a:tc>
                  <a:txBody>
                    <a:bodyPr/>
                    <a:lstStyle/>
                    <a:p>
                      <a:pPr marL="0" lvl="0" indent="0" algn="ctr" rtl="0">
                        <a:spcBef>
                          <a:spcPts val="0"/>
                        </a:spcBef>
                        <a:spcAft>
                          <a:spcPts val="0"/>
                        </a:spcAft>
                        <a:buNone/>
                      </a:pPr>
                      <a:r>
                        <a:rPr lang="en-US" sz="1200">
                          <a:latin typeface="Calibri"/>
                          <a:ea typeface="Calibri"/>
                          <a:cs typeface="Calibri"/>
                          <a:sym typeface="Calibri"/>
                        </a:rPr>
                        <a:t>1.</a:t>
                      </a:r>
                      <a:endParaRPr sz="12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200" dirty="0"/>
                        <a:t>A Review of Event Management Systems: Current Technologies and Challenges</a:t>
                      </a:r>
                      <a:endParaRPr sz="1200" dirty="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IN" sz="1200" dirty="0" err="1"/>
                        <a:t>Dr.</a:t>
                      </a:r>
                      <a:r>
                        <a:rPr lang="en-IN" sz="1200" dirty="0"/>
                        <a:t> R. Sharma</a:t>
                      </a:r>
                      <a:endParaRPr sz="1200" dirty="0">
                        <a:latin typeface="Calibri"/>
                        <a:ea typeface="Calibri"/>
                        <a:cs typeface="Calibri"/>
                        <a:sym typeface="Calibri"/>
                      </a:endParaRPr>
                    </a:p>
                  </a:txBody>
                  <a:tcPr marL="91425" marR="91425" marT="91425" marB="91425"/>
                </a:tc>
                <a:tc>
                  <a:txBody>
                    <a:bodyPr/>
                    <a:lstStyle/>
                    <a:p>
                      <a:pPr marL="457200" lvl="0" indent="-304800" algn="l" rtl="0">
                        <a:spcBef>
                          <a:spcPts val="0"/>
                        </a:spcBef>
                        <a:spcAft>
                          <a:spcPts val="0"/>
                        </a:spcAft>
                        <a:buSzPts val="1200"/>
                        <a:buFont typeface="Calibri"/>
                        <a:buChar char="●"/>
                      </a:pPr>
                      <a:r>
                        <a:rPr lang="en-US" sz="1200" dirty="0">
                          <a:latin typeface="Calibri"/>
                          <a:ea typeface="Calibri"/>
                          <a:cs typeface="Calibri"/>
                          <a:sym typeface="Calibri"/>
                        </a:rPr>
                        <a:t>Existing event systems are expensive.</a:t>
                      </a:r>
                    </a:p>
                    <a:p>
                      <a:pPr marL="457200" lvl="0" indent="-304800" algn="l" rtl="0">
                        <a:spcBef>
                          <a:spcPts val="0"/>
                        </a:spcBef>
                        <a:spcAft>
                          <a:spcPts val="0"/>
                        </a:spcAft>
                        <a:buSzPts val="1200"/>
                        <a:buFont typeface="Calibri"/>
                        <a:buChar char="●"/>
                      </a:pPr>
                      <a:r>
                        <a:rPr lang="en-US" sz="1200" dirty="0">
                          <a:latin typeface="Calibri"/>
                          <a:ea typeface="Calibri"/>
                          <a:cs typeface="Calibri"/>
                          <a:sym typeface="Calibri"/>
                        </a:rPr>
                        <a:t>Complex interfaces hinder smaller institutions.</a:t>
                      </a:r>
                    </a:p>
                    <a:p>
                      <a:pPr marL="457200" lvl="0" indent="-304800" algn="l" rtl="0">
                        <a:spcBef>
                          <a:spcPts val="0"/>
                        </a:spcBef>
                        <a:spcAft>
                          <a:spcPts val="0"/>
                        </a:spcAft>
                        <a:buSzPts val="1200"/>
                        <a:buFont typeface="Calibri"/>
                        <a:buChar char="●"/>
                      </a:pPr>
                      <a:r>
                        <a:rPr lang="en-US" sz="1200" dirty="0">
                          <a:latin typeface="Calibri"/>
                          <a:ea typeface="Calibri"/>
                          <a:cs typeface="Calibri"/>
                          <a:sym typeface="Calibri"/>
                        </a:rPr>
                        <a:t>Customizable, lightweight solutions are needed.</a:t>
                      </a:r>
                      <a:endParaRPr sz="1200" dirty="0">
                        <a:latin typeface="Calibri"/>
                        <a:ea typeface="Calibri"/>
                        <a:cs typeface="Calibri"/>
                        <a:sym typeface="Calibri"/>
                      </a:endParaRPr>
                    </a:p>
                  </a:txBody>
                  <a:tcPr marL="91425" marR="91425" marT="91425" marB="91425"/>
                </a:tc>
                <a:extLst>
                  <a:ext uri="{0D108BD9-81ED-4DB2-BD59-A6C34878D82A}">
                    <a16:rowId xmlns:a16="http://schemas.microsoft.com/office/drawing/2014/main" val="10001"/>
                  </a:ext>
                </a:extLst>
              </a:tr>
              <a:tr h="995025">
                <a:tc>
                  <a:txBody>
                    <a:bodyPr/>
                    <a:lstStyle/>
                    <a:p>
                      <a:pPr marL="0" lvl="0" indent="0" algn="ctr" rtl="0">
                        <a:spcBef>
                          <a:spcPts val="0"/>
                        </a:spcBef>
                        <a:spcAft>
                          <a:spcPts val="0"/>
                        </a:spcAft>
                        <a:buNone/>
                      </a:pPr>
                      <a:r>
                        <a:rPr lang="en-US" sz="1200">
                          <a:latin typeface="Calibri"/>
                          <a:ea typeface="Calibri"/>
                          <a:cs typeface="Calibri"/>
                          <a:sym typeface="Calibri"/>
                        </a:rPr>
                        <a:t>2.</a:t>
                      </a:r>
                      <a:endParaRPr sz="12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200" dirty="0"/>
                        <a:t>Event Management Software in Higher Education Institutions</a:t>
                      </a:r>
                      <a:endParaRPr sz="1200" dirty="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IN" sz="1200" dirty="0"/>
                        <a:t>Prof. L. Chen</a:t>
                      </a:r>
                      <a:endParaRPr sz="1200" dirty="0">
                        <a:latin typeface="Calibri"/>
                        <a:ea typeface="Calibri"/>
                        <a:cs typeface="Calibri"/>
                        <a:sym typeface="Calibri"/>
                      </a:endParaRPr>
                    </a:p>
                  </a:txBody>
                  <a:tcPr marL="91425" marR="91425" marT="91425" marB="91425"/>
                </a:tc>
                <a:tc>
                  <a:txBody>
                    <a:bodyPr/>
                    <a:lstStyle/>
                    <a:p>
                      <a:pPr marL="457200" lvl="0" indent="-304800" algn="l" rtl="0">
                        <a:spcBef>
                          <a:spcPts val="0"/>
                        </a:spcBef>
                        <a:spcAft>
                          <a:spcPts val="0"/>
                        </a:spcAft>
                        <a:buSzPts val="1200"/>
                        <a:buFont typeface="Calibri"/>
                        <a:buChar char="●"/>
                      </a:pPr>
                      <a:r>
                        <a:rPr lang="en-US" sz="1200" dirty="0">
                          <a:latin typeface="Calibri"/>
                          <a:ea typeface="Calibri"/>
                          <a:cs typeface="Calibri"/>
                          <a:sym typeface="Calibri"/>
                        </a:rPr>
                        <a:t>Current systems don't cater to college-specific requirements.</a:t>
                      </a:r>
                    </a:p>
                    <a:p>
                      <a:pPr marL="457200" lvl="0" indent="-304800" algn="l" rtl="0">
                        <a:spcBef>
                          <a:spcPts val="0"/>
                        </a:spcBef>
                        <a:spcAft>
                          <a:spcPts val="0"/>
                        </a:spcAft>
                        <a:buSzPts val="1200"/>
                        <a:buFont typeface="Calibri"/>
                        <a:buChar char="●"/>
                      </a:pPr>
                      <a:r>
                        <a:rPr lang="en-US" sz="1200" dirty="0">
                          <a:latin typeface="Calibri"/>
                          <a:ea typeface="Calibri"/>
                          <a:cs typeface="Calibri"/>
                          <a:sym typeface="Calibri"/>
                        </a:rPr>
                        <a:t>Lightweight frameworks offer more flexibility.</a:t>
                      </a:r>
                    </a:p>
                    <a:p>
                      <a:pPr marL="457200" lvl="0" indent="-304800" algn="l" rtl="0">
                        <a:spcBef>
                          <a:spcPts val="0"/>
                        </a:spcBef>
                        <a:spcAft>
                          <a:spcPts val="0"/>
                        </a:spcAft>
                        <a:buSzPts val="1200"/>
                        <a:buFont typeface="Calibri"/>
                        <a:buChar char="●"/>
                      </a:pPr>
                      <a:r>
                        <a:rPr lang="en-US" sz="1200" dirty="0">
                          <a:latin typeface="Calibri"/>
                          <a:ea typeface="Calibri"/>
                          <a:cs typeface="Calibri"/>
                          <a:sym typeface="Calibri"/>
                        </a:rPr>
                        <a:t>Simple backends improve system customization.</a:t>
                      </a:r>
                      <a:endParaRPr sz="1200" dirty="0">
                        <a:solidFill>
                          <a:srgbClr val="000000"/>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2"/>
                  </a:ext>
                </a:extLst>
              </a:tr>
              <a:tr h="957325">
                <a:tc>
                  <a:txBody>
                    <a:bodyPr/>
                    <a:lstStyle/>
                    <a:p>
                      <a:pPr marL="0" lvl="0" indent="0" algn="ctr" rtl="0">
                        <a:spcBef>
                          <a:spcPts val="0"/>
                        </a:spcBef>
                        <a:spcAft>
                          <a:spcPts val="0"/>
                        </a:spcAft>
                        <a:buNone/>
                      </a:pPr>
                      <a:r>
                        <a:rPr lang="en-US" sz="1200">
                          <a:latin typeface="Calibri"/>
                          <a:ea typeface="Calibri"/>
                          <a:cs typeface="Calibri"/>
                          <a:sym typeface="Calibri"/>
                        </a:rPr>
                        <a:t>3.</a:t>
                      </a:r>
                      <a:endParaRPr sz="12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200" dirty="0">
                          <a:latin typeface="Calibri"/>
                          <a:ea typeface="Calibri"/>
                          <a:cs typeface="Calibri"/>
                          <a:sym typeface="Calibri"/>
                        </a:rPr>
                        <a:t>"</a:t>
                      </a:r>
                      <a:r>
                        <a:rPr lang="en-US" sz="1200" dirty="0">
                          <a:latin typeface="+mn-lt"/>
                          <a:ea typeface="Calibri"/>
                          <a:cs typeface="Calibri"/>
                          <a:sym typeface="Calibri"/>
                        </a:rPr>
                        <a:t>Simplifying </a:t>
                      </a:r>
                      <a:r>
                        <a:rPr lang="en-US" sz="1400" dirty="0">
                          <a:latin typeface="+mn-lt"/>
                          <a:ea typeface="Calibri"/>
                          <a:cs typeface="Calibri"/>
                          <a:sym typeface="Calibri"/>
                        </a:rPr>
                        <a:t>Event</a:t>
                      </a:r>
                      <a:r>
                        <a:rPr lang="en-US" sz="1200" dirty="0">
                          <a:latin typeface="+mn-lt"/>
                          <a:ea typeface="Calibri"/>
                          <a:cs typeface="Calibri"/>
                          <a:sym typeface="Calibri"/>
                        </a:rPr>
                        <a:t> Registration Processes: A Case Study</a:t>
                      </a:r>
                      <a:r>
                        <a:rPr lang="en-US" sz="1200" dirty="0">
                          <a:latin typeface="Calibri"/>
                          <a:ea typeface="Calibri"/>
                          <a:cs typeface="Calibri"/>
                          <a:sym typeface="Calibri"/>
                        </a:rPr>
                        <a:t>"</a:t>
                      </a:r>
                      <a:endParaRPr sz="1200" dirty="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IN" sz="1200" dirty="0"/>
                        <a:t>M. Patel</a:t>
                      </a:r>
                      <a:endParaRPr sz="1200" dirty="0">
                        <a:latin typeface="Calibri"/>
                        <a:ea typeface="Calibri"/>
                        <a:cs typeface="Calibri"/>
                        <a:sym typeface="Calibri"/>
                      </a:endParaRPr>
                    </a:p>
                  </a:txBody>
                  <a:tcPr marL="91425" marR="91425" marT="91425" marB="91425"/>
                </a:tc>
                <a:tc>
                  <a:txBody>
                    <a:bodyPr/>
                    <a:lstStyle/>
                    <a:p>
                      <a:pPr marL="457200" lvl="0" indent="-304800" algn="l" rtl="0">
                        <a:spcBef>
                          <a:spcPts val="0"/>
                        </a:spcBef>
                        <a:spcAft>
                          <a:spcPts val="0"/>
                        </a:spcAft>
                        <a:buSzPts val="1200"/>
                        <a:buFont typeface="Calibri"/>
                        <a:buChar char="●"/>
                      </a:pPr>
                      <a:r>
                        <a:rPr lang="en-US" sz="1200" dirty="0">
                          <a:latin typeface="Calibri"/>
                          <a:ea typeface="Calibri"/>
                          <a:cs typeface="Calibri"/>
                          <a:sym typeface="Calibri"/>
                        </a:rPr>
                        <a:t>Simple designs increase user engagement.</a:t>
                      </a:r>
                    </a:p>
                    <a:p>
                      <a:pPr marL="457200" lvl="0" indent="-304800" algn="l" rtl="0">
                        <a:spcBef>
                          <a:spcPts val="0"/>
                        </a:spcBef>
                        <a:spcAft>
                          <a:spcPts val="0"/>
                        </a:spcAft>
                        <a:buSzPts val="1200"/>
                        <a:buFont typeface="Calibri"/>
                        <a:buChar char="●"/>
                      </a:pPr>
                      <a:r>
                        <a:rPr lang="en-US" sz="1200" dirty="0">
                          <a:latin typeface="Calibri"/>
                          <a:ea typeface="Calibri"/>
                          <a:cs typeface="Calibri"/>
                          <a:sym typeface="Calibri"/>
                        </a:rPr>
                        <a:t>HTML and CSS enhance front-end usability.</a:t>
                      </a:r>
                    </a:p>
                    <a:p>
                      <a:pPr marL="457200" lvl="0" indent="-304800" algn="l" rtl="0">
                        <a:spcBef>
                          <a:spcPts val="0"/>
                        </a:spcBef>
                        <a:spcAft>
                          <a:spcPts val="0"/>
                        </a:spcAft>
                        <a:buSzPts val="1200"/>
                        <a:buFont typeface="Calibri"/>
                        <a:buChar char="●"/>
                      </a:pPr>
                      <a:r>
                        <a:rPr lang="en-US" sz="1200" dirty="0">
                          <a:latin typeface="Calibri"/>
                          <a:ea typeface="Calibri"/>
                          <a:cs typeface="Calibri"/>
                          <a:sym typeface="Calibri"/>
                        </a:rPr>
                        <a:t>Flask simplifies back-end development and integration.</a:t>
                      </a:r>
                      <a:endParaRPr sz="1200" dirty="0">
                        <a:solidFill>
                          <a:srgbClr val="000000"/>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0"/>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7</a:t>
            </a:fld>
            <a:endParaRPr/>
          </a:p>
        </p:txBody>
      </p:sp>
      <p:sp>
        <p:nvSpPr>
          <p:cNvPr id="178" name="Google Shape;178;p10"/>
          <p:cNvSpPr txBox="1"/>
          <p:nvPr/>
        </p:nvSpPr>
        <p:spPr>
          <a:xfrm>
            <a:off x="417094" y="224589"/>
            <a:ext cx="8010213" cy="5780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dirty="0">
                <a:solidFill>
                  <a:srgbClr val="C00000"/>
                </a:solidFill>
                <a:latin typeface="Times New Roman"/>
                <a:ea typeface="Times New Roman"/>
                <a:cs typeface="Times New Roman"/>
                <a:sym typeface="Times New Roman"/>
              </a:rPr>
              <a:t>6. Tools and Languages</a:t>
            </a:r>
            <a:r>
              <a:rPr lang="en-US" sz="2200" b="0" i="0" u="none" strike="noStrike" cap="none" dirty="0">
                <a:solidFill>
                  <a:srgbClr val="C00000"/>
                </a:solidFill>
                <a:latin typeface="Times New Roman"/>
                <a:ea typeface="Times New Roman"/>
                <a:cs typeface="Times New Roman"/>
                <a:sym typeface="Times New Roman"/>
              </a:rPr>
              <a:t> </a:t>
            </a:r>
            <a:endParaRPr dirty="0"/>
          </a:p>
        </p:txBody>
      </p:sp>
      <p:sp>
        <p:nvSpPr>
          <p:cNvPr id="179" name="Google Shape;179;p10"/>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dirty="0">
                <a:solidFill>
                  <a:srgbClr val="C00000"/>
                </a:solidFill>
                <a:latin typeface="Times New Roman"/>
                <a:ea typeface="Times New Roman"/>
                <a:cs typeface="Times New Roman"/>
                <a:sym typeface="Times New Roman"/>
              </a:rPr>
              <a:t>Department of Computer Science &amp; Engineering, </a:t>
            </a:r>
            <a:r>
              <a:rPr lang="en-US" sz="1800" b="1" i="1" u="none" strike="noStrike" cap="none" dirty="0" err="1">
                <a:solidFill>
                  <a:srgbClr val="C00000"/>
                </a:solidFill>
                <a:latin typeface="Times New Roman"/>
                <a:ea typeface="Times New Roman"/>
                <a:cs typeface="Times New Roman"/>
                <a:sym typeface="Times New Roman"/>
              </a:rPr>
              <a:t>MITSoC</a:t>
            </a:r>
            <a:r>
              <a:rPr lang="en-US" sz="1800" b="1" i="1" u="none" strike="noStrike" cap="none" dirty="0">
                <a:solidFill>
                  <a:srgbClr val="C00000"/>
                </a:solidFill>
                <a:latin typeface="Times New Roman"/>
                <a:ea typeface="Times New Roman"/>
                <a:cs typeface="Times New Roman"/>
                <a:sym typeface="Times New Roman"/>
              </a:rPr>
              <a:t>, Loni </a:t>
            </a:r>
            <a:r>
              <a:rPr lang="en-US" sz="1800" b="1" i="1" u="none" strike="noStrike" cap="none" dirty="0" err="1">
                <a:solidFill>
                  <a:srgbClr val="C00000"/>
                </a:solidFill>
                <a:latin typeface="Times New Roman"/>
                <a:ea typeface="Times New Roman"/>
                <a:cs typeface="Times New Roman"/>
                <a:sym typeface="Times New Roman"/>
              </a:rPr>
              <a:t>Kalbhor</a:t>
            </a:r>
            <a:endParaRPr sz="1800" b="1" i="1" u="none" strike="noStrike" cap="none" dirty="0">
              <a:solidFill>
                <a:srgbClr val="C00000"/>
              </a:solidFill>
              <a:latin typeface="Times New Roman"/>
              <a:ea typeface="Times New Roman"/>
              <a:cs typeface="Times New Roman"/>
              <a:sym typeface="Times New Roman"/>
            </a:endParaRPr>
          </a:p>
        </p:txBody>
      </p:sp>
      <p:pic>
        <p:nvPicPr>
          <p:cNvPr id="180" name="Google Shape;180;p10"/>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181" name="Google Shape;181;p10"/>
          <p:cNvSpPr txBox="1"/>
          <p:nvPr/>
        </p:nvSpPr>
        <p:spPr>
          <a:xfrm>
            <a:off x="499927" y="1140230"/>
            <a:ext cx="8010300" cy="404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dirty="0">
                <a:latin typeface="+mn-lt"/>
                <a:ea typeface="Poppins Medium"/>
                <a:cs typeface="Poppins Medium"/>
                <a:sym typeface="Poppins Medium"/>
              </a:rPr>
              <a:t>Frontend Technologies: </a:t>
            </a:r>
            <a:r>
              <a:rPr lang="en-US" sz="1800" dirty="0">
                <a:latin typeface="+mn-lt"/>
                <a:ea typeface="Poppins Medium"/>
                <a:cs typeface="Poppins Medium"/>
                <a:sym typeface="Poppins Medium"/>
              </a:rPr>
              <a:t>HTML and CSS are used for structuring and styling the user interface, ensuring a responsive and visually appealing platform for both users and admins.</a:t>
            </a:r>
          </a:p>
          <a:p>
            <a:pPr marL="0" lvl="0" indent="0" algn="l" rtl="0">
              <a:spcBef>
                <a:spcPts val="0"/>
              </a:spcBef>
              <a:spcAft>
                <a:spcPts val="0"/>
              </a:spcAft>
              <a:buNone/>
            </a:pPr>
            <a:endParaRPr lang="en-US" sz="1800" dirty="0">
              <a:latin typeface="+mn-lt"/>
              <a:ea typeface="Poppins Medium"/>
              <a:cs typeface="Poppins Medium"/>
              <a:sym typeface="Poppins Medium"/>
            </a:endParaRPr>
          </a:p>
          <a:p>
            <a:pPr marL="0" lvl="0" indent="0" algn="l" rtl="0">
              <a:spcBef>
                <a:spcPts val="0"/>
              </a:spcBef>
              <a:spcAft>
                <a:spcPts val="0"/>
              </a:spcAft>
              <a:buNone/>
            </a:pPr>
            <a:r>
              <a:rPr lang="en-US" sz="1800" b="1" dirty="0">
                <a:latin typeface="+mn-lt"/>
                <a:ea typeface="Poppins Medium"/>
                <a:cs typeface="Poppins Medium"/>
                <a:sym typeface="Poppins Medium"/>
              </a:rPr>
              <a:t>Backend Framework: </a:t>
            </a:r>
            <a:r>
              <a:rPr lang="en-US" sz="1800" dirty="0">
                <a:latin typeface="+mn-lt"/>
                <a:ea typeface="Poppins Medium"/>
                <a:cs typeface="Poppins Medium"/>
                <a:sym typeface="Poppins Medium"/>
              </a:rPr>
              <a:t>Flask, a lightweight Python web framework, is used for managing the backend logic, routing, and handling API requests for events and user registration.</a:t>
            </a:r>
          </a:p>
          <a:p>
            <a:pPr marL="0" lvl="0" indent="0" algn="l" rtl="0">
              <a:spcBef>
                <a:spcPts val="0"/>
              </a:spcBef>
              <a:spcAft>
                <a:spcPts val="0"/>
              </a:spcAft>
              <a:buNone/>
            </a:pPr>
            <a:endParaRPr lang="en-US" sz="1800" dirty="0">
              <a:latin typeface="+mn-lt"/>
              <a:ea typeface="Poppins Medium"/>
              <a:cs typeface="Poppins Medium"/>
              <a:sym typeface="Poppins Medium"/>
            </a:endParaRPr>
          </a:p>
          <a:p>
            <a:pPr marL="0" lvl="0" indent="0" algn="l" rtl="0">
              <a:spcBef>
                <a:spcPts val="0"/>
              </a:spcBef>
              <a:spcAft>
                <a:spcPts val="0"/>
              </a:spcAft>
              <a:buNone/>
            </a:pPr>
            <a:r>
              <a:rPr lang="en-US" sz="1800" b="1" dirty="0">
                <a:latin typeface="+mn-lt"/>
                <a:ea typeface="Poppins Medium"/>
                <a:cs typeface="Poppins Medium"/>
                <a:sym typeface="Poppins Medium"/>
              </a:rPr>
              <a:t>Database: </a:t>
            </a:r>
            <a:r>
              <a:rPr lang="en-US" sz="1800" dirty="0">
                <a:latin typeface="+mn-lt"/>
                <a:ea typeface="Poppins Medium"/>
                <a:cs typeface="Poppins Medium"/>
                <a:sym typeface="Poppins Medium"/>
              </a:rPr>
              <a:t>SQLite is used for storing event data, user details, and registration information in a simple yet effective relational database.</a:t>
            </a:r>
          </a:p>
          <a:p>
            <a:pPr marL="0" lvl="0" indent="0" algn="l" rtl="0">
              <a:spcBef>
                <a:spcPts val="0"/>
              </a:spcBef>
              <a:spcAft>
                <a:spcPts val="0"/>
              </a:spcAft>
              <a:buNone/>
            </a:pPr>
            <a:endParaRPr lang="en-US" sz="1800" dirty="0">
              <a:latin typeface="+mn-lt"/>
              <a:ea typeface="Poppins Medium"/>
              <a:cs typeface="Poppins Medium"/>
              <a:sym typeface="Poppins Medium"/>
            </a:endParaRPr>
          </a:p>
          <a:p>
            <a:pPr marL="0" lvl="0" indent="0" algn="l" rtl="0">
              <a:spcBef>
                <a:spcPts val="0"/>
              </a:spcBef>
              <a:spcAft>
                <a:spcPts val="0"/>
              </a:spcAft>
              <a:buNone/>
            </a:pPr>
            <a:r>
              <a:rPr lang="en-US" sz="1800" b="1" dirty="0">
                <a:latin typeface="+mn-lt"/>
                <a:ea typeface="Poppins Medium"/>
                <a:cs typeface="Poppins Medium"/>
                <a:sym typeface="Poppins Medium"/>
              </a:rPr>
              <a:t>Notification System: </a:t>
            </a:r>
            <a:r>
              <a:rPr lang="en-US" sz="1800" dirty="0">
                <a:latin typeface="+mn-lt"/>
                <a:ea typeface="Poppins Medium"/>
                <a:cs typeface="Poppins Medium"/>
                <a:sym typeface="Poppins Medium"/>
              </a:rPr>
              <a:t>Python's </a:t>
            </a:r>
            <a:r>
              <a:rPr lang="en-US" sz="1800" dirty="0" err="1">
                <a:latin typeface="+mn-lt"/>
                <a:ea typeface="Poppins Medium"/>
                <a:cs typeface="Poppins Medium"/>
                <a:sym typeface="Poppins Medium"/>
              </a:rPr>
              <a:t>smtplib</a:t>
            </a:r>
            <a:r>
              <a:rPr lang="en-US" sz="1800" dirty="0">
                <a:latin typeface="+mn-lt"/>
                <a:ea typeface="Poppins Medium"/>
                <a:cs typeface="Poppins Medium"/>
                <a:sym typeface="Poppins Medium"/>
              </a:rPr>
              <a:t> library is utilized to send email notifications to users for event reminders and updates.</a:t>
            </a:r>
            <a:endParaRPr sz="1800" dirty="0">
              <a:latin typeface="+mn-lt"/>
              <a:ea typeface="Poppins Medium"/>
              <a:cs typeface="Poppins Medium"/>
              <a:sym typeface="Poppins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1"/>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8</a:t>
            </a:fld>
            <a:endParaRPr/>
          </a:p>
        </p:txBody>
      </p:sp>
      <p:sp>
        <p:nvSpPr>
          <p:cNvPr id="169" name="Google Shape;169;p11"/>
          <p:cNvSpPr txBox="1"/>
          <p:nvPr/>
        </p:nvSpPr>
        <p:spPr>
          <a:xfrm>
            <a:off x="417094" y="224589"/>
            <a:ext cx="8010213" cy="5780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dirty="0">
                <a:solidFill>
                  <a:srgbClr val="C00000"/>
                </a:solidFill>
                <a:latin typeface="Times New Roman"/>
                <a:ea typeface="Times New Roman"/>
                <a:cs typeface="Times New Roman"/>
                <a:sym typeface="Times New Roman"/>
              </a:rPr>
              <a:t>7. Process and Architecture</a:t>
            </a:r>
            <a:r>
              <a:rPr lang="en-US" sz="2200" b="0" i="0" u="none" strike="noStrike" cap="none" dirty="0">
                <a:solidFill>
                  <a:srgbClr val="C00000"/>
                </a:solidFill>
                <a:latin typeface="Times New Roman"/>
                <a:ea typeface="Times New Roman"/>
                <a:cs typeface="Times New Roman"/>
                <a:sym typeface="Times New Roman"/>
              </a:rPr>
              <a:t> </a:t>
            </a:r>
            <a:endParaRPr dirty="0"/>
          </a:p>
        </p:txBody>
      </p:sp>
      <p:sp>
        <p:nvSpPr>
          <p:cNvPr id="170" name="Google Shape;170;p11"/>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dirty="0">
                <a:solidFill>
                  <a:srgbClr val="C00000"/>
                </a:solidFill>
                <a:latin typeface="Times New Roman"/>
                <a:ea typeface="Times New Roman"/>
                <a:cs typeface="Times New Roman"/>
                <a:sym typeface="Times New Roman"/>
              </a:rPr>
              <a:t>Department of Computer Science &amp; Engineering, </a:t>
            </a:r>
            <a:r>
              <a:rPr lang="en-US" sz="1800" b="1" i="1" u="none" strike="noStrike" cap="none" dirty="0" err="1">
                <a:solidFill>
                  <a:srgbClr val="C00000"/>
                </a:solidFill>
                <a:latin typeface="Times New Roman"/>
                <a:ea typeface="Times New Roman"/>
                <a:cs typeface="Times New Roman"/>
                <a:sym typeface="Times New Roman"/>
              </a:rPr>
              <a:t>MITSoC</a:t>
            </a:r>
            <a:r>
              <a:rPr lang="en-US" sz="1800" b="1" i="1" u="none" strike="noStrike" cap="none" dirty="0">
                <a:solidFill>
                  <a:srgbClr val="C00000"/>
                </a:solidFill>
                <a:latin typeface="Times New Roman"/>
                <a:ea typeface="Times New Roman"/>
                <a:cs typeface="Times New Roman"/>
                <a:sym typeface="Times New Roman"/>
              </a:rPr>
              <a:t>, Loni </a:t>
            </a:r>
            <a:r>
              <a:rPr lang="en-US" sz="1800" b="1" i="1" u="none" strike="noStrike" cap="none" dirty="0" err="1">
                <a:solidFill>
                  <a:srgbClr val="C00000"/>
                </a:solidFill>
                <a:latin typeface="Times New Roman"/>
                <a:ea typeface="Times New Roman"/>
                <a:cs typeface="Times New Roman"/>
                <a:sym typeface="Times New Roman"/>
              </a:rPr>
              <a:t>Kalbhor</a:t>
            </a:r>
            <a:endParaRPr sz="1800" b="1" i="1" u="none" strike="noStrike" cap="none" dirty="0">
              <a:solidFill>
                <a:srgbClr val="C00000"/>
              </a:solidFill>
              <a:latin typeface="Times New Roman"/>
              <a:ea typeface="Times New Roman"/>
              <a:cs typeface="Times New Roman"/>
              <a:sym typeface="Times New Roman"/>
            </a:endParaRPr>
          </a:p>
        </p:txBody>
      </p:sp>
      <p:pic>
        <p:nvPicPr>
          <p:cNvPr id="171" name="Google Shape;171;p11"/>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172" name="Google Shape;172;p11"/>
          <p:cNvSpPr txBox="1"/>
          <p:nvPr/>
        </p:nvSpPr>
        <p:spPr>
          <a:xfrm>
            <a:off x="293850" y="1094480"/>
            <a:ext cx="8556300" cy="413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lang="en-US" b="1" dirty="0">
              <a:latin typeface="+mn-lt"/>
              <a:ea typeface="Century Schoolbook"/>
              <a:cs typeface="Century Schoolbook"/>
              <a:sym typeface="Century Schoolbook"/>
            </a:endParaRPr>
          </a:p>
          <a:p>
            <a:pPr marL="342900" lvl="0" indent="-342900" algn="l" rtl="0">
              <a:spcBef>
                <a:spcPts val="0"/>
              </a:spcBef>
              <a:spcAft>
                <a:spcPts val="0"/>
              </a:spcAft>
              <a:buClr>
                <a:schemeClr val="dk1"/>
              </a:buClr>
              <a:buSzPts val="1100"/>
              <a:buFont typeface="Arial"/>
              <a:buAutoNum type="arabicPeriod"/>
            </a:pPr>
            <a:r>
              <a:rPr lang="en-US" b="1" dirty="0">
                <a:latin typeface="+mn-lt"/>
                <a:ea typeface="Century Schoolbook"/>
                <a:cs typeface="Century Schoolbook"/>
                <a:sym typeface="Century Schoolbook"/>
              </a:rPr>
              <a:t>Process:</a:t>
            </a:r>
          </a:p>
          <a:p>
            <a:pPr lvl="0" algn="l" rtl="0">
              <a:spcBef>
                <a:spcPts val="0"/>
              </a:spcBef>
              <a:spcAft>
                <a:spcPts val="0"/>
              </a:spcAft>
              <a:buClr>
                <a:schemeClr val="dk1"/>
              </a:buClr>
              <a:buSzPts val="1100"/>
            </a:pPr>
            <a:r>
              <a:rPr lang="en-US" dirty="0">
                <a:latin typeface="+mn-lt"/>
                <a:ea typeface="Century Schoolbook"/>
                <a:cs typeface="Century Schoolbook"/>
                <a:sym typeface="Century Schoolbook"/>
              </a:rPr>
              <a:t> The development process starts with requirement gathering and UI/UX design, followed by frontend and backend development using HTML, CSS, Flask, and SQLite. Testing and deployment follow, with ongoing maintenance to improve the platform based on feedback.</a:t>
            </a:r>
          </a:p>
          <a:p>
            <a:pPr marL="0" lvl="0" indent="0" algn="l" rtl="0">
              <a:spcBef>
                <a:spcPts val="0"/>
              </a:spcBef>
              <a:spcAft>
                <a:spcPts val="0"/>
              </a:spcAft>
              <a:buClr>
                <a:schemeClr val="dk1"/>
              </a:buClr>
              <a:buSzPts val="1100"/>
              <a:buFont typeface="Arial"/>
              <a:buNone/>
            </a:pPr>
            <a:endParaRPr lang="en-US" dirty="0">
              <a:latin typeface="+mn-lt"/>
              <a:ea typeface="Century Schoolbook"/>
              <a:cs typeface="Century Schoolbook"/>
              <a:sym typeface="Century Schoolbook"/>
            </a:endParaRPr>
          </a:p>
          <a:p>
            <a:pPr marL="0" lvl="0" indent="0" algn="l" rtl="0">
              <a:spcBef>
                <a:spcPts val="0"/>
              </a:spcBef>
              <a:spcAft>
                <a:spcPts val="0"/>
              </a:spcAft>
              <a:buClr>
                <a:schemeClr val="dk1"/>
              </a:buClr>
              <a:buSzPts val="1100"/>
              <a:buFont typeface="Arial"/>
              <a:buNone/>
            </a:pPr>
            <a:r>
              <a:rPr lang="en-US" dirty="0">
                <a:latin typeface="+mn-lt"/>
                <a:ea typeface="Century Schoolbook"/>
                <a:cs typeface="Century Schoolbook"/>
                <a:sym typeface="Century Schoolbook"/>
              </a:rPr>
              <a:t>2. </a:t>
            </a:r>
            <a:r>
              <a:rPr lang="en-US" b="1" dirty="0">
                <a:latin typeface="+mn-lt"/>
                <a:ea typeface="Century Schoolbook"/>
                <a:cs typeface="Century Schoolbook"/>
                <a:sym typeface="Century Schoolbook"/>
              </a:rPr>
              <a:t>Architecture:</a:t>
            </a:r>
          </a:p>
          <a:p>
            <a:pPr marL="0" lvl="0" indent="0" algn="l" rtl="0">
              <a:spcBef>
                <a:spcPts val="0"/>
              </a:spcBef>
              <a:spcAft>
                <a:spcPts val="0"/>
              </a:spcAft>
              <a:buClr>
                <a:schemeClr val="dk1"/>
              </a:buClr>
              <a:buSzPts val="1100"/>
              <a:buFont typeface="Arial"/>
              <a:buNone/>
            </a:pPr>
            <a:r>
              <a:rPr lang="en-US" dirty="0">
                <a:latin typeface="+mn-lt"/>
                <a:ea typeface="Century Schoolbook"/>
                <a:cs typeface="Century Schoolbook"/>
                <a:sym typeface="Century Schoolbook"/>
              </a:rPr>
              <a:t> Eventology uses a Flask backend to manage data and business logic, with an HTML/CSS frontend. User and event data are stored in an SQLite database, and notifications are sent using Python libraries for automation.</a:t>
            </a:r>
          </a:p>
          <a:p>
            <a:pPr marL="0" lvl="0" indent="0" algn="l" rtl="0">
              <a:spcBef>
                <a:spcPts val="0"/>
              </a:spcBef>
              <a:spcAft>
                <a:spcPts val="0"/>
              </a:spcAft>
              <a:buClr>
                <a:schemeClr val="dk1"/>
              </a:buClr>
              <a:buSzPts val="1100"/>
              <a:buFont typeface="Arial"/>
              <a:buNone/>
            </a:pPr>
            <a:endParaRPr lang="en-US" dirty="0">
              <a:latin typeface="+mn-lt"/>
              <a:ea typeface="Century Schoolbook"/>
              <a:cs typeface="Century Schoolbook"/>
              <a:sym typeface="Century Schoolbook"/>
            </a:endParaRPr>
          </a:p>
          <a:p>
            <a:pPr marL="0" lvl="0" indent="0" algn="l" rtl="0">
              <a:spcBef>
                <a:spcPts val="0"/>
              </a:spcBef>
              <a:spcAft>
                <a:spcPts val="0"/>
              </a:spcAft>
              <a:buClr>
                <a:schemeClr val="dk1"/>
              </a:buClr>
              <a:buSzPts val="1100"/>
              <a:buFont typeface="Arial"/>
              <a:buNone/>
            </a:pPr>
            <a:r>
              <a:rPr lang="en-US" dirty="0">
                <a:latin typeface="+mn-lt"/>
                <a:ea typeface="Century Schoolbook"/>
                <a:cs typeface="Century Schoolbook"/>
                <a:sym typeface="Century Schoolbook"/>
              </a:rPr>
              <a:t>3. </a:t>
            </a:r>
            <a:r>
              <a:rPr lang="en-US" b="1" dirty="0">
                <a:latin typeface="+mn-lt"/>
                <a:ea typeface="Century Schoolbook"/>
                <a:cs typeface="Century Schoolbook"/>
                <a:sym typeface="Century Schoolbook"/>
              </a:rPr>
              <a:t>Scalability and Security: </a:t>
            </a:r>
          </a:p>
          <a:p>
            <a:pPr marL="0" lvl="0" indent="0" algn="l" rtl="0">
              <a:spcBef>
                <a:spcPts val="0"/>
              </a:spcBef>
              <a:spcAft>
                <a:spcPts val="0"/>
              </a:spcAft>
              <a:buClr>
                <a:schemeClr val="dk1"/>
              </a:buClr>
              <a:buSzPts val="1100"/>
              <a:buFont typeface="Arial"/>
              <a:buNone/>
            </a:pPr>
            <a:r>
              <a:rPr lang="en-US" dirty="0">
                <a:latin typeface="+mn-lt"/>
                <a:ea typeface="Century Schoolbook"/>
                <a:cs typeface="Century Schoolbook"/>
                <a:sym typeface="Century Schoolbook"/>
              </a:rPr>
              <a:t>The platform incorporates secure user authentication and is built to scale, with plans to integrate ReactJS for the frontend and potentially upgrade the database system for better performance.</a:t>
            </a:r>
            <a:endParaRPr dirty="0">
              <a:latin typeface="+mn-lt"/>
              <a:ea typeface="Century Schoolbook"/>
              <a:cs typeface="Century Schoolbook"/>
              <a:sym typeface="Century Schoolbook"/>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2976675D-115C-2ACD-4BC9-956C72F84155}"/>
            </a:ext>
          </a:extLst>
        </p:cNvPr>
        <p:cNvGrpSpPr/>
        <p:nvPr/>
      </p:nvGrpSpPr>
      <p:grpSpPr>
        <a:xfrm>
          <a:off x="0" y="0"/>
          <a:ext cx="0" cy="0"/>
          <a:chOff x="0" y="0"/>
          <a:chExt cx="0" cy="0"/>
        </a:xfrm>
      </p:grpSpPr>
      <p:sp>
        <p:nvSpPr>
          <p:cNvPr id="168" name="Google Shape;168;p11">
            <a:extLst>
              <a:ext uri="{FF2B5EF4-FFF2-40B4-BE49-F238E27FC236}">
                <a16:creationId xmlns:a16="http://schemas.microsoft.com/office/drawing/2014/main" id="{73D827B2-A15C-DDC4-6558-51C722D991BE}"/>
              </a:ext>
            </a:extLst>
          </p:cNvPr>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9</a:t>
            </a:fld>
            <a:endParaRPr/>
          </a:p>
        </p:txBody>
      </p:sp>
      <p:sp>
        <p:nvSpPr>
          <p:cNvPr id="169" name="Google Shape;169;p11">
            <a:extLst>
              <a:ext uri="{FF2B5EF4-FFF2-40B4-BE49-F238E27FC236}">
                <a16:creationId xmlns:a16="http://schemas.microsoft.com/office/drawing/2014/main" id="{09514A96-2FC4-6048-5E1B-5736C3ECAF87}"/>
              </a:ext>
            </a:extLst>
          </p:cNvPr>
          <p:cNvSpPr txBox="1"/>
          <p:nvPr/>
        </p:nvSpPr>
        <p:spPr>
          <a:xfrm>
            <a:off x="343215" y="137160"/>
            <a:ext cx="8010213" cy="5780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dirty="0">
                <a:solidFill>
                  <a:srgbClr val="C00000"/>
                </a:solidFill>
                <a:latin typeface="Times New Roman"/>
                <a:ea typeface="Times New Roman"/>
                <a:cs typeface="Times New Roman"/>
                <a:sym typeface="Times New Roman"/>
              </a:rPr>
              <a:t>WORKFLOW:</a:t>
            </a:r>
            <a:r>
              <a:rPr lang="en-US" sz="2200" b="0" i="0" u="none" strike="noStrike" cap="none" dirty="0">
                <a:solidFill>
                  <a:srgbClr val="C00000"/>
                </a:solidFill>
                <a:latin typeface="Times New Roman"/>
                <a:ea typeface="Times New Roman"/>
                <a:cs typeface="Times New Roman"/>
                <a:sym typeface="Times New Roman"/>
              </a:rPr>
              <a:t> </a:t>
            </a:r>
            <a:endParaRPr dirty="0"/>
          </a:p>
        </p:txBody>
      </p:sp>
      <p:sp>
        <p:nvSpPr>
          <p:cNvPr id="170" name="Google Shape;170;p11">
            <a:extLst>
              <a:ext uri="{FF2B5EF4-FFF2-40B4-BE49-F238E27FC236}">
                <a16:creationId xmlns:a16="http://schemas.microsoft.com/office/drawing/2014/main" id="{37970606-9306-4FD5-28A3-500240871770}"/>
              </a:ext>
            </a:extLst>
          </p:cNvPr>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dirty="0">
                <a:solidFill>
                  <a:srgbClr val="C00000"/>
                </a:solidFill>
                <a:latin typeface="Times New Roman"/>
                <a:ea typeface="Times New Roman"/>
                <a:cs typeface="Times New Roman"/>
                <a:sym typeface="Times New Roman"/>
              </a:rPr>
              <a:t>Department of Computer Science &amp; Engineering, </a:t>
            </a:r>
            <a:r>
              <a:rPr lang="en-US" sz="1800" b="1" i="1" u="none" strike="noStrike" cap="none" dirty="0" err="1">
                <a:solidFill>
                  <a:srgbClr val="C00000"/>
                </a:solidFill>
                <a:latin typeface="Times New Roman"/>
                <a:ea typeface="Times New Roman"/>
                <a:cs typeface="Times New Roman"/>
                <a:sym typeface="Times New Roman"/>
              </a:rPr>
              <a:t>MITSoC</a:t>
            </a:r>
            <a:r>
              <a:rPr lang="en-US" sz="1800" b="1" i="1" u="none" strike="noStrike" cap="none" dirty="0">
                <a:solidFill>
                  <a:srgbClr val="C00000"/>
                </a:solidFill>
                <a:latin typeface="Times New Roman"/>
                <a:ea typeface="Times New Roman"/>
                <a:cs typeface="Times New Roman"/>
                <a:sym typeface="Times New Roman"/>
              </a:rPr>
              <a:t>, Loni </a:t>
            </a:r>
            <a:r>
              <a:rPr lang="en-US" sz="1800" b="1" i="1" u="none" strike="noStrike" cap="none" dirty="0" err="1">
                <a:solidFill>
                  <a:srgbClr val="C00000"/>
                </a:solidFill>
                <a:latin typeface="Times New Roman"/>
                <a:ea typeface="Times New Roman"/>
                <a:cs typeface="Times New Roman"/>
                <a:sym typeface="Times New Roman"/>
              </a:rPr>
              <a:t>Kalbhor</a:t>
            </a:r>
            <a:endParaRPr sz="1800" b="1" i="1" u="none" strike="noStrike" cap="none" dirty="0">
              <a:solidFill>
                <a:srgbClr val="C00000"/>
              </a:solidFill>
              <a:latin typeface="Times New Roman"/>
              <a:ea typeface="Times New Roman"/>
              <a:cs typeface="Times New Roman"/>
              <a:sym typeface="Times New Roman"/>
            </a:endParaRPr>
          </a:p>
        </p:txBody>
      </p:sp>
      <p:pic>
        <p:nvPicPr>
          <p:cNvPr id="171" name="Google Shape;171;p11">
            <a:extLst>
              <a:ext uri="{FF2B5EF4-FFF2-40B4-BE49-F238E27FC236}">
                <a16:creationId xmlns:a16="http://schemas.microsoft.com/office/drawing/2014/main" id="{2E88D517-1972-8755-94DD-DC523054F10D}"/>
              </a:ext>
            </a:extLst>
          </p:cNvPr>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172" name="Google Shape;172;p11">
            <a:extLst>
              <a:ext uri="{FF2B5EF4-FFF2-40B4-BE49-F238E27FC236}">
                <a16:creationId xmlns:a16="http://schemas.microsoft.com/office/drawing/2014/main" id="{0F02D387-B681-D82F-B5C2-1735E2942DCA}"/>
              </a:ext>
            </a:extLst>
          </p:cNvPr>
          <p:cNvSpPr txBox="1"/>
          <p:nvPr/>
        </p:nvSpPr>
        <p:spPr>
          <a:xfrm>
            <a:off x="244485" y="379943"/>
            <a:ext cx="8556300" cy="413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lang="en-US" b="1" dirty="0">
              <a:latin typeface="+mn-lt"/>
              <a:ea typeface="Century Schoolbook"/>
              <a:cs typeface="Century Schoolbook"/>
              <a:sym typeface="Century Schoolbook"/>
            </a:endParaRPr>
          </a:p>
          <a:p>
            <a:pPr lvl="0" algn="l" rtl="0">
              <a:spcBef>
                <a:spcPts val="0"/>
              </a:spcBef>
              <a:spcAft>
                <a:spcPts val="0"/>
              </a:spcAft>
              <a:buClr>
                <a:schemeClr val="dk1"/>
              </a:buClr>
              <a:buSzPts val="1100"/>
            </a:pPr>
            <a:endParaRPr lang="en-US" b="1" dirty="0">
              <a:latin typeface="+mn-lt"/>
              <a:ea typeface="Century Schoolbook"/>
              <a:cs typeface="Century Schoolbook"/>
              <a:sym typeface="Century Schoolbook"/>
            </a:endParaRPr>
          </a:p>
          <a:p>
            <a:pPr lvl="0" algn="l" rtl="0">
              <a:spcBef>
                <a:spcPts val="0"/>
              </a:spcBef>
              <a:spcAft>
                <a:spcPts val="0"/>
              </a:spcAft>
              <a:buClr>
                <a:schemeClr val="dk1"/>
              </a:buClr>
              <a:buSzPts val="1100"/>
            </a:pPr>
            <a:r>
              <a:rPr lang="en-US" b="1" dirty="0">
                <a:latin typeface="+mn-lt"/>
                <a:ea typeface="Century Schoolbook"/>
                <a:cs typeface="Century Schoolbook"/>
                <a:sym typeface="Century Schoolbook"/>
              </a:rPr>
              <a:t>1.User Registration</a:t>
            </a:r>
          </a:p>
          <a:p>
            <a:pPr lvl="0" algn="l" rtl="0">
              <a:spcBef>
                <a:spcPts val="0"/>
              </a:spcBef>
              <a:spcAft>
                <a:spcPts val="0"/>
              </a:spcAft>
              <a:buClr>
                <a:schemeClr val="dk1"/>
              </a:buClr>
              <a:buSzPts val="1100"/>
            </a:pPr>
            <a:r>
              <a:rPr lang="en-US" b="1" dirty="0">
                <a:latin typeface="+mn-lt"/>
                <a:ea typeface="Century Schoolbook"/>
                <a:cs typeface="Century Schoolbook"/>
                <a:sym typeface="Century Schoolbook"/>
              </a:rPr>
              <a:t>   - Users sign up and create profiles on the platform.  </a:t>
            </a:r>
          </a:p>
          <a:p>
            <a:pPr lvl="0" algn="l" rtl="0">
              <a:spcBef>
                <a:spcPts val="0"/>
              </a:spcBef>
              <a:spcAft>
                <a:spcPts val="0"/>
              </a:spcAft>
              <a:buClr>
                <a:schemeClr val="dk1"/>
              </a:buClr>
              <a:buSzPts val="1100"/>
            </a:pPr>
            <a:endParaRPr lang="en-US" b="1" dirty="0">
              <a:latin typeface="+mn-lt"/>
              <a:ea typeface="Century Schoolbook"/>
              <a:cs typeface="Century Schoolbook"/>
              <a:sym typeface="Century Schoolbook"/>
            </a:endParaRPr>
          </a:p>
          <a:p>
            <a:pPr lvl="0" algn="l" rtl="0">
              <a:spcBef>
                <a:spcPts val="0"/>
              </a:spcBef>
              <a:spcAft>
                <a:spcPts val="0"/>
              </a:spcAft>
              <a:buClr>
                <a:schemeClr val="dk1"/>
              </a:buClr>
              <a:buSzPts val="1100"/>
            </a:pPr>
            <a:r>
              <a:rPr lang="en-US" b="1" dirty="0">
                <a:latin typeface="+mn-lt"/>
                <a:ea typeface="Century Schoolbook"/>
                <a:cs typeface="Century Schoolbook"/>
                <a:sym typeface="Century Schoolbook"/>
              </a:rPr>
              <a:t>2. Event Manager Login </a:t>
            </a:r>
          </a:p>
          <a:p>
            <a:pPr lvl="0" algn="l" rtl="0">
              <a:spcBef>
                <a:spcPts val="0"/>
              </a:spcBef>
              <a:spcAft>
                <a:spcPts val="0"/>
              </a:spcAft>
              <a:buClr>
                <a:schemeClr val="dk1"/>
              </a:buClr>
              <a:buSzPts val="1100"/>
            </a:pPr>
            <a:r>
              <a:rPr lang="en-US" b="1" dirty="0">
                <a:latin typeface="+mn-lt"/>
                <a:ea typeface="Century Schoolbook"/>
                <a:cs typeface="Century Schoolbook"/>
                <a:sym typeface="Century Schoolbook"/>
              </a:rPr>
              <a:t>   - Event managers log in to upload and manage event details.  </a:t>
            </a:r>
          </a:p>
          <a:p>
            <a:pPr lvl="0" algn="l" rtl="0">
              <a:spcBef>
                <a:spcPts val="0"/>
              </a:spcBef>
              <a:spcAft>
                <a:spcPts val="0"/>
              </a:spcAft>
              <a:buClr>
                <a:schemeClr val="dk1"/>
              </a:buClr>
              <a:buSzPts val="1100"/>
            </a:pPr>
            <a:endParaRPr lang="en-US" b="1" dirty="0">
              <a:latin typeface="+mn-lt"/>
              <a:ea typeface="Century Schoolbook"/>
              <a:cs typeface="Century Schoolbook"/>
              <a:sym typeface="Century Schoolbook"/>
            </a:endParaRPr>
          </a:p>
          <a:p>
            <a:pPr lvl="0" algn="l" rtl="0">
              <a:spcBef>
                <a:spcPts val="0"/>
              </a:spcBef>
              <a:spcAft>
                <a:spcPts val="0"/>
              </a:spcAft>
              <a:buClr>
                <a:schemeClr val="dk1"/>
              </a:buClr>
              <a:buSzPts val="1100"/>
            </a:pPr>
            <a:r>
              <a:rPr lang="en-US" b="1" dirty="0">
                <a:latin typeface="+mn-lt"/>
                <a:ea typeface="Century Schoolbook"/>
                <a:cs typeface="Century Schoolbook"/>
                <a:sym typeface="Century Schoolbook"/>
              </a:rPr>
              <a:t>3. User Registration for Events</a:t>
            </a:r>
          </a:p>
          <a:p>
            <a:pPr lvl="0" algn="l" rtl="0">
              <a:spcBef>
                <a:spcPts val="0"/>
              </a:spcBef>
              <a:spcAft>
                <a:spcPts val="0"/>
              </a:spcAft>
              <a:buClr>
                <a:schemeClr val="dk1"/>
              </a:buClr>
              <a:buSzPts val="1100"/>
            </a:pPr>
            <a:r>
              <a:rPr lang="en-US" b="1" dirty="0">
                <a:latin typeface="+mn-lt"/>
                <a:ea typeface="Century Schoolbook"/>
                <a:cs typeface="Century Schoolbook"/>
                <a:sym typeface="Century Schoolbook"/>
              </a:rPr>
              <a:t> - Users register for events they are interested in.  </a:t>
            </a:r>
          </a:p>
          <a:p>
            <a:pPr lvl="0" algn="l" rtl="0">
              <a:spcBef>
                <a:spcPts val="0"/>
              </a:spcBef>
              <a:spcAft>
                <a:spcPts val="0"/>
              </a:spcAft>
              <a:buClr>
                <a:schemeClr val="dk1"/>
              </a:buClr>
              <a:buSzPts val="1100"/>
            </a:pPr>
            <a:endParaRPr lang="en-US" b="1" dirty="0">
              <a:latin typeface="+mn-lt"/>
              <a:ea typeface="Century Schoolbook"/>
              <a:cs typeface="Century Schoolbook"/>
              <a:sym typeface="Century Schoolbook"/>
            </a:endParaRPr>
          </a:p>
          <a:p>
            <a:pPr lvl="0" algn="l" rtl="0">
              <a:spcBef>
                <a:spcPts val="0"/>
              </a:spcBef>
              <a:spcAft>
                <a:spcPts val="0"/>
              </a:spcAft>
              <a:buClr>
                <a:schemeClr val="dk1"/>
              </a:buClr>
              <a:buSzPts val="1100"/>
            </a:pPr>
            <a:r>
              <a:rPr lang="en-US" b="1" dirty="0">
                <a:latin typeface="+mn-lt"/>
                <a:ea typeface="Century Schoolbook"/>
                <a:cs typeface="Century Schoolbook"/>
                <a:sym typeface="Century Schoolbook"/>
              </a:rPr>
              <a:t>4. Automated Notifications </a:t>
            </a:r>
          </a:p>
          <a:p>
            <a:pPr lvl="0" algn="l" rtl="0">
              <a:spcBef>
                <a:spcPts val="0"/>
              </a:spcBef>
              <a:spcAft>
                <a:spcPts val="0"/>
              </a:spcAft>
              <a:buClr>
                <a:schemeClr val="dk1"/>
              </a:buClr>
              <a:buSzPts val="1100"/>
            </a:pPr>
            <a:r>
              <a:rPr lang="en-US" b="1" dirty="0">
                <a:latin typeface="+mn-lt"/>
                <a:ea typeface="Century Schoolbook"/>
                <a:cs typeface="Century Schoolbook"/>
                <a:sym typeface="Century Schoolbook"/>
              </a:rPr>
              <a:t>   - The platform sends email reminders to registered users using Flask-SMTP.  </a:t>
            </a:r>
          </a:p>
          <a:p>
            <a:pPr lvl="0" algn="l" rtl="0">
              <a:spcBef>
                <a:spcPts val="0"/>
              </a:spcBef>
              <a:spcAft>
                <a:spcPts val="0"/>
              </a:spcAft>
              <a:buClr>
                <a:schemeClr val="dk1"/>
              </a:buClr>
              <a:buSzPts val="1100"/>
            </a:pPr>
            <a:endParaRPr lang="en-US" b="1" dirty="0">
              <a:latin typeface="+mn-lt"/>
              <a:ea typeface="Century Schoolbook"/>
              <a:cs typeface="Century Schoolbook"/>
              <a:sym typeface="Century Schoolbook"/>
            </a:endParaRPr>
          </a:p>
          <a:p>
            <a:pPr lvl="0" algn="l" rtl="0">
              <a:spcBef>
                <a:spcPts val="0"/>
              </a:spcBef>
              <a:spcAft>
                <a:spcPts val="0"/>
              </a:spcAft>
              <a:buClr>
                <a:schemeClr val="dk1"/>
              </a:buClr>
              <a:buSzPts val="1100"/>
            </a:pPr>
            <a:r>
              <a:rPr lang="en-US" b="1" dirty="0">
                <a:latin typeface="+mn-lt"/>
                <a:ea typeface="Century Schoolbook"/>
                <a:cs typeface="Century Schoolbook"/>
                <a:sym typeface="Century Schoolbook"/>
              </a:rPr>
              <a:t>5. Feedback and Engagement Analytics</a:t>
            </a:r>
          </a:p>
          <a:p>
            <a:pPr lvl="0" algn="l" rtl="0">
              <a:spcBef>
                <a:spcPts val="0"/>
              </a:spcBef>
              <a:spcAft>
                <a:spcPts val="0"/>
              </a:spcAft>
              <a:buClr>
                <a:schemeClr val="dk1"/>
              </a:buClr>
              <a:buSzPts val="1100"/>
            </a:pPr>
            <a:r>
              <a:rPr lang="en-US" b="1" dirty="0">
                <a:latin typeface="+mn-lt"/>
                <a:ea typeface="Century Schoolbook"/>
                <a:cs typeface="Century Schoolbook"/>
                <a:sym typeface="Century Schoolbook"/>
              </a:rPr>
              <a:t>   - Platform collects engagement metrics for improvement.  </a:t>
            </a:r>
          </a:p>
          <a:p>
            <a:pPr marL="342900" lvl="0" indent="-342900" algn="l" rtl="0">
              <a:spcBef>
                <a:spcPts val="0"/>
              </a:spcBef>
              <a:spcAft>
                <a:spcPts val="0"/>
              </a:spcAft>
              <a:buClr>
                <a:schemeClr val="dk1"/>
              </a:buClr>
              <a:buSzPts val="1100"/>
              <a:buFont typeface="Arial"/>
              <a:buAutoNum type="arabicPeriod"/>
            </a:pPr>
            <a:endParaRPr lang="en-US" b="1" dirty="0">
              <a:latin typeface="+mn-lt"/>
              <a:ea typeface="Century Schoolbook"/>
              <a:cs typeface="Century Schoolbook"/>
              <a:sym typeface="Century Schoolbook"/>
            </a:endParaRPr>
          </a:p>
          <a:p>
            <a:pPr lvl="0" algn="l" rtl="0">
              <a:spcBef>
                <a:spcPts val="0"/>
              </a:spcBef>
              <a:spcAft>
                <a:spcPts val="0"/>
              </a:spcAft>
              <a:buClr>
                <a:schemeClr val="dk1"/>
              </a:buClr>
              <a:buSzPts val="1100"/>
            </a:pPr>
            <a:r>
              <a:rPr lang="en-US" b="1" dirty="0">
                <a:latin typeface="+mn-lt"/>
                <a:ea typeface="Century Schoolbook"/>
                <a:cs typeface="Century Schoolbook"/>
                <a:sym typeface="Century Schoolbook"/>
              </a:rPr>
              <a:t>6. Database Management  </a:t>
            </a:r>
          </a:p>
          <a:p>
            <a:pPr lvl="0" algn="l" rtl="0">
              <a:spcBef>
                <a:spcPts val="0"/>
              </a:spcBef>
              <a:spcAft>
                <a:spcPts val="0"/>
              </a:spcAft>
              <a:buClr>
                <a:schemeClr val="dk1"/>
              </a:buClr>
              <a:buSzPts val="1100"/>
            </a:pPr>
            <a:r>
              <a:rPr lang="en-US" b="1" dirty="0">
                <a:latin typeface="+mn-lt"/>
                <a:ea typeface="Century Schoolbook"/>
                <a:cs typeface="Century Schoolbook"/>
                <a:sym typeface="Century Schoolbook"/>
              </a:rPr>
              <a:t> - Stores user and event data using **Flask-SQL.  </a:t>
            </a:r>
          </a:p>
          <a:p>
            <a:pPr marL="342900" lvl="0" indent="-342900" algn="l" rtl="0">
              <a:spcBef>
                <a:spcPts val="0"/>
              </a:spcBef>
              <a:spcAft>
                <a:spcPts val="0"/>
              </a:spcAft>
              <a:buClr>
                <a:schemeClr val="dk1"/>
              </a:buClr>
              <a:buSzPts val="1100"/>
              <a:buFont typeface="Arial"/>
              <a:buAutoNum type="arabicPeriod"/>
            </a:pPr>
            <a:endParaRPr lang="en-US" b="1" dirty="0">
              <a:latin typeface="+mn-lt"/>
              <a:ea typeface="Century Schoolbook"/>
              <a:cs typeface="Century Schoolbook"/>
              <a:sym typeface="Century Schoolbook"/>
            </a:endParaRPr>
          </a:p>
          <a:p>
            <a:pPr lvl="0" algn="l" rtl="0">
              <a:spcBef>
                <a:spcPts val="0"/>
              </a:spcBef>
              <a:spcAft>
                <a:spcPts val="0"/>
              </a:spcAft>
              <a:buClr>
                <a:schemeClr val="dk1"/>
              </a:buClr>
              <a:buSzPts val="1100"/>
            </a:pPr>
            <a:r>
              <a:rPr lang="en-US" b="1" dirty="0">
                <a:latin typeface="+mn-lt"/>
                <a:ea typeface="Century Schoolbook"/>
                <a:cs typeface="Century Schoolbook"/>
                <a:sym typeface="Century Schoolbook"/>
              </a:rPr>
              <a:t>7. Platform Updates</a:t>
            </a:r>
          </a:p>
          <a:p>
            <a:pPr lvl="0" algn="l" rtl="0">
              <a:spcBef>
                <a:spcPts val="0"/>
              </a:spcBef>
              <a:spcAft>
                <a:spcPts val="0"/>
              </a:spcAft>
              <a:buClr>
                <a:schemeClr val="dk1"/>
              </a:buClr>
              <a:buSzPts val="1100"/>
            </a:pPr>
            <a:r>
              <a:rPr lang="en-US" b="1" dirty="0">
                <a:latin typeface="+mn-lt"/>
                <a:ea typeface="Century Schoolbook"/>
                <a:cs typeface="Century Schoolbook"/>
                <a:sym typeface="Century Schoolbook"/>
              </a:rPr>
              <a:t>   - Updates and optimizations are made based on admin and user feedback. </a:t>
            </a:r>
            <a:r>
              <a:rPr lang="en-US" dirty="0">
                <a:latin typeface="+mn-lt"/>
                <a:ea typeface="Century Schoolbook"/>
                <a:cs typeface="Century Schoolbook"/>
                <a:sym typeface="Century Schoolbook"/>
              </a:rPr>
              <a:t>.</a:t>
            </a:r>
            <a:endParaRPr dirty="0">
              <a:latin typeface="+mn-lt"/>
              <a:ea typeface="Century Schoolbook"/>
              <a:cs typeface="Century Schoolbook"/>
              <a:sym typeface="Century Schoolbook"/>
            </a:endParaRPr>
          </a:p>
        </p:txBody>
      </p:sp>
      <p:pic>
        <p:nvPicPr>
          <p:cNvPr id="2" name="Picture 1">
            <a:extLst>
              <a:ext uri="{FF2B5EF4-FFF2-40B4-BE49-F238E27FC236}">
                <a16:creationId xmlns:a16="http://schemas.microsoft.com/office/drawing/2014/main" id="{4700026D-C401-F7DA-8F34-8622600995E7}"/>
              </a:ext>
            </a:extLst>
          </p:cNvPr>
          <p:cNvPicPr>
            <a:picLocks noChangeAspect="1"/>
          </p:cNvPicPr>
          <p:nvPr/>
        </p:nvPicPr>
        <p:blipFill>
          <a:blip r:embed="rId4"/>
          <a:stretch>
            <a:fillRect/>
          </a:stretch>
        </p:blipFill>
        <p:spPr>
          <a:xfrm>
            <a:off x="6298381" y="137160"/>
            <a:ext cx="2673718" cy="2501913"/>
          </a:xfrm>
          <a:prstGeom prst="rect">
            <a:avLst/>
          </a:prstGeom>
        </p:spPr>
      </p:pic>
      <p:pic>
        <p:nvPicPr>
          <p:cNvPr id="3" name="Picture 2">
            <a:extLst>
              <a:ext uri="{FF2B5EF4-FFF2-40B4-BE49-F238E27FC236}">
                <a16:creationId xmlns:a16="http://schemas.microsoft.com/office/drawing/2014/main" id="{1FBF9A12-2451-1E0D-CFF4-FFAA184CDBEF}"/>
              </a:ext>
            </a:extLst>
          </p:cNvPr>
          <p:cNvPicPr>
            <a:picLocks noChangeAspect="1"/>
          </p:cNvPicPr>
          <p:nvPr/>
        </p:nvPicPr>
        <p:blipFill>
          <a:blip r:embed="rId5"/>
          <a:srcRect l="27918" r="28001"/>
          <a:stretch/>
        </p:blipFill>
        <p:spPr>
          <a:xfrm>
            <a:off x="6890529" y="3299381"/>
            <a:ext cx="2081570" cy="2257155"/>
          </a:xfrm>
          <a:prstGeom prst="rect">
            <a:avLst/>
          </a:prstGeom>
        </p:spPr>
      </p:pic>
    </p:spTree>
    <p:extLst>
      <p:ext uri="{BB962C8B-B14F-4D97-AF65-F5344CB8AC3E}">
        <p14:creationId xmlns:p14="http://schemas.microsoft.com/office/powerpoint/2010/main" val="3477875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4EF6B719-4698-6405-73D0-3F798BC5B75E}"/>
            </a:ext>
          </a:extLst>
        </p:cNvPr>
        <p:cNvGrpSpPr/>
        <p:nvPr/>
      </p:nvGrpSpPr>
      <p:grpSpPr>
        <a:xfrm>
          <a:off x="0" y="0"/>
          <a:ext cx="0" cy="0"/>
          <a:chOff x="0" y="0"/>
          <a:chExt cx="0" cy="0"/>
        </a:xfrm>
      </p:grpSpPr>
      <p:sp>
        <p:nvSpPr>
          <p:cNvPr id="117" name="Google Shape;117;p12">
            <a:extLst>
              <a:ext uri="{FF2B5EF4-FFF2-40B4-BE49-F238E27FC236}">
                <a16:creationId xmlns:a16="http://schemas.microsoft.com/office/drawing/2014/main" id="{09FEB37E-7153-50EC-26D5-CF1A795C418A}"/>
              </a:ext>
            </a:extLst>
          </p:cNvPr>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10</a:t>
            </a:fld>
            <a:endParaRPr/>
          </a:p>
        </p:txBody>
      </p:sp>
      <p:sp>
        <p:nvSpPr>
          <p:cNvPr id="118" name="Google Shape;118;p12">
            <a:extLst>
              <a:ext uri="{FF2B5EF4-FFF2-40B4-BE49-F238E27FC236}">
                <a16:creationId xmlns:a16="http://schemas.microsoft.com/office/drawing/2014/main" id="{19A5430A-1737-36E6-E298-14568807B105}"/>
              </a:ext>
            </a:extLst>
          </p:cNvPr>
          <p:cNvSpPr txBox="1"/>
          <p:nvPr/>
        </p:nvSpPr>
        <p:spPr>
          <a:xfrm>
            <a:off x="417094" y="224589"/>
            <a:ext cx="8010213" cy="5780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dirty="0">
                <a:solidFill>
                  <a:srgbClr val="C00000"/>
                </a:solidFill>
                <a:latin typeface="Times New Roman"/>
                <a:cs typeface="Times New Roman"/>
                <a:sym typeface="Times New Roman"/>
              </a:rPr>
              <a:t>FLOWCHART:</a:t>
            </a:r>
            <a:endParaRPr dirty="0"/>
          </a:p>
        </p:txBody>
      </p:sp>
      <p:sp>
        <p:nvSpPr>
          <p:cNvPr id="119" name="Google Shape;119;p12">
            <a:extLst>
              <a:ext uri="{FF2B5EF4-FFF2-40B4-BE49-F238E27FC236}">
                <a16:creationId xmlns:a16="http://schemas.microsoft.com/office/drawing/2014/main" id="{51E3A3A3-889F-6CDF-4A90-31E7C04BE86A}"/>
              </a:ext>
            </a:extLst>
          </p:cNvPr>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dirty="0">
                <a:solidFill>
                  <a:srgbClr val="C00000"/>
                </a:solidFill>
                <a:latin typeface="Times New Roman"/>
                <a:ea typeface="Times New Roman"/>
                <a:cs typeface="Times New Roman"/>
                <a:sym typeface="Times New Roman"/>
              </a:rPr>
              <a:t>Department of Computer Science &amp; Engineering, </a:t>
            </a:r>
            <a:r>
              <a:rPr lang="en-US" sz="1800" b="1" i="1" u="none" strike="noStrike" cap="none" dirty="0" err="1">
                <a:solidFill>
                  <a:srgbClr val="C00000"/>
                </a:solidFill>
                <a:latin typeface="Times New Roman"/>
                <a:ea typeface="Times New Roman"/>
                <a:cs typeface="Times New Roman"/>
                <a:sym typeface="Times New Roman"/>
              </a:rPr>
              <a:t>MITSoC</a:t>
            </a:r>
            <a:r>
              <a:rPr lang="en-US" sz="1800" b="1" i="1" u="none" strike="noStrike" cap="none" dirty="0">
                <a:solidFill>
                  <a:srgbClr val="C00000"/>
                </a:solidFill>
                <a:latin typeface="Times New Roman"/>
                <a:ea typeface="Times New Roman"/>
                <a:cs typeface="Times New Roman"/>
                <a:sym typeface="Times New Roman"/>
              </a:rPr>
              <a:t>, Loni </a:t>
            </a:r>
            <a:r>
              <a:rPr lang="en-US" sz="1800" b="1" i="1" u="none" strike="noStrike" cap="none" dirty="0" err="1">
                <a:solidFill>
                  <a:srgbClr val="C00000"/>
                </a:solidFill>
                <a:latin typeface="Times New Roman"/>
                <a:ea typeface="Times New Roman"/>
                <a:cs typeface="Times New Roman"/>
                <a:sym typeface="Times New Roman"/>
              </a:rPr>
              <a:t>Kalbhor</a:t>
            </a:r>
            <a:endParaRPr sz="1800" b="1" i="1" u="none" strike="noStrike" cap="none" dirty="0">
              <a:solidFill>
                <a:srgbClr val="C00000"/>
              </a:solidFill>
              <a:latin typeface="Times New Roman"/>
              <a:ea typeface="Times New Roman"/>
              <a:cs typeface="Times New Roman"/>
              <a:sym typeface="Times New Roman"/>
            </a:endParaRPr>
          </a:p>
        </p:txBody>
      </p:sp>
      <p:pic>
        <p:nvPicPr>
          <p:cNvPr id="120" name="Google Shape;120;p12">
            <a:extLst>
              <a:ext uri="{FF2B5EF4-FFF2-40B4-BE49-F238E27FC236}">
                <a16:creationId xmlns:a16="http://schemas.microsoft.com/office/drawing/2014/main" id="{130F3697-D5BA-82C0-AD8F-2E90411D36AB}"/>
              </a:ext>
            </a:extLst>
          </p:cNvPr>
          <p:cNvPicPr preferRelativeResize="0"/>
          <p:nvPr/>
        </p:nvPicPr>
        <p:blipFill rotWithShape="1">
          <a:blip r:embed="rId3">
            <a:alphaModFix/>
          </a:blip>
          <a:srcRect/>
          <a:stretch/>
        </p:blipFill>
        <p:spPr>
          <a:xfrm>
            <a:off x="0" y="5812967"/>
            <a:ext cx="999854" cy="1020451"/>
          </a:xfrm>
          <a:prstGeom prst="rect">
            <a:avLst/>
          </a:prstGeom>
          <a:noFill/>
          <a:ln>
            <a:noFill/>
          </a:ln>
        </p:spPr>
      </p:pic>
      <p:pic>
        <p:nvPicPr>
          <p:cNvPr id="5" name="Picture 4">
            <a:extLst>
              <a:ext uri="{FF2B5EF4-FFF2-40B4-BE49-F238E27FC236}">
                <a16:creationId xmlns:a16="http://schemas.microsoft.com/office/drawing/2014/main" id="{F0854207-89AE-E29A-A311-42488DD2753A}"/>
              </a:ext>
            </a:extLst>
          </p:cNvPr>
          <p:cNvPicPr>
            <a:picLocks noChangeAspect="1"/>
          </p:cNvPicPr>
          <p:nvPr/>
        </p:nvPicPr>
        <p:blipFill>
          <a:blip r:embed="rId4"/>
          <a:stretch>
            <a:fillRect/>
          </a:stretch>
        </p:blipFill>
        <p:spPr>
          <a:xfrm>
            <a:off x="2297292" y="953443"/>
            <a:ext cx="4391219" cy="4391219"/>
          </a:xfrm>
          <a:prstGeom prst="rect">
            <a:avLst/>
          </a:prstGeom>
        </p:spPr>
      </p:pic>
    </p:spTree>
    <p:extLst>
      <p:ext uri="{BB962C8B-B14F-4D97-AF65-F5344CB8AC3E}">
        <p14:creationId xmlns:p14="http://schemas.microsoft.com/office/powerpoint/2010/main" val="2610873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7"/>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11</a:t>
            </a:fld>
            <a:endParaRPr/>
          </a:p>
        </p:txBody>
      </p:sp>
      <p:sp>
        <p:nvSpPr>
          <p:cNvPr id="109" name="Google Shape;109;p7"/>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dirty="0">
                <a:solidFill>
                  <a:srgbClr val="C00000"/>
                </a:solidFill>
                <a:latin typeface="Times New Roman"/>
                <a:ea typeface="Times New Roman"/>
                <a:cs typeface="Times New Roman"/>
                <a:sym typeface="Times New Roman"/>
              </a:rPr>
              <a:t>Department of Computer Science &amp; Engineering, </a:t>
            </a:r>
            <a:r>
              <a:rPr lang="en-US" sz="1800" b="1" i="1" u="none" strike="noStrike" cap="none" dirty="0" err="1">
                <a:solidFill>
                  <a:srgbClr val="C00000"/>
                </a:solidFill>
                <a:latin typeface="Times New Roman"/>
                <a:ea typeface="Times New Roman"/>
                <a:cs typeface="Times New Roman"/>
                <a:sym typeface="Times New Roman"/>
              </a:rPr>
              <a:t>MITSoC</a:t>
            </a:r>
            <a:r>
              <a:rPr lang="en-US" sz="1800" b="1" i="1" u="none" strike="noStrike" cap="none" dirty="0">
                <a:solidFill>
                  <a:srgbClr val="C00000"/>
                </a:solidFill>
                <a:latin typeface="Times New Roman"/>
                <a:ea typeface="Times New Roman"/>
                <a:cs typeface="Times New Roman"/>
                <a:sym typeface="Times New Roman"/>
              </a:rPr>
              <a:t>, Loni </a:t>
            </a:r>
            <a:r>
              <a:rPr lang="en-US" sz="1800" b="1" i="1" u="none" strike="noStrike" cap="none" dirty="0" err="1">
                <a:solidFill>
                  <a:srgbClr val="C00000"/>
                </a:solidFill>
                <a:latin typeface="Times New Roman"/>
                <a:ea typeface="Times New Roman"/>
                <a:cs typeface="Times New Roman"/>
                <a:sym typeface="Times New Roman"/>
              </a:rPr>
              <a:t>Kalbhor</a:t>
            </a:r>
            <a:endParaRPr sz="1800" b="1" i="1" u="none" strike="noStrike" cap="none" dirty="0">
              <a:solidFill>
                <a:srgbClr val="C00000"/>
              </a:solidFill>
              <a:latin typeface="Times New Roman"/>
              <a:ea typeface="Times New Roman"/>
              <a:cs typeface="Times New Roman"/>
              <a:sym typeface="Times New Roman"/>
            </a:endParaRPr>
          </a:p>
        </p:txBody>
      </p:sp>
      <p:pic>
        <p:nvPicPr>
          <p:cNvPr id="110" name="Google Shape;110;p7"/>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111" name="Google Shape;111;p7"/>
          <p:cNvSpPr txBox="1"/>
          <p:nvPr/>
        </p:nvSpPr>
        <p:spPr>
          <a:xfrm>
            <a:off x="417094" y="878889"/>
            <a:ext cx="8638200" cy="4371900"/>
          </a:xfrm>
          <a:prstGeom prst="rect">
            <a:avLst/>
          </a:prstGeom>
          <a:noFill/>
          <a:ln>
            <a:noFill/>
          </a:ln>
        </p:spPr>
        <p:txBody>
          <a:bodyPr spcFirstLastPara="1" wrap="square" lIns="91425" tIns="91425" rIns="91425" bIns="91425" anchor="t" anchorCtr="0">
            <a:noAutofit/>
          </a:bodyPr>
          <a:lstStyle/>
          <a:p>
            <a:pPr lvl="0" algn="l" rtl="0">
              <a:spcBef>
                <a:spcPts val="0"/>
              </a:spcBef>
              <a:spcAft>
                <a:spcPts val="0"/>
              </a:spcAft>
            </a:pPr>
            <a:r>
              <a:rPr lang="en-US" sz="1900" b="1" dirty="0">
                <a:solidFill>
                  <a:srgbClr val="BF9000"/>
                </a:solidFill>
                <a:latin typeface="+mn-lt"/>
                <a:ea typeface="Calibri"/>
                <a:cs typeface="Calibri"/>
                <a:sym typeface="Calibri"/>
              </a:rPr>
              <a:t>Identification of Gaps</a:t>
            </a:r>
          </a:p>
          <a:p>
            <a:pPr marL="171450" lvl="0" indent="-171450" algn="l" rtl="0">
              <a:spcBef>
                <a:spcPts val="0"/>
              </a:spcBef>
              <a:spcAft>
                <a:spcPts val="0"/>
              </a:spcAft>
              <a:buFont typeface="Arial" panose="020B0604020202020204" pitchFamily="34" charset="0"/>
              <a:buChar char="•"/>
            </a:pPr>
            <a:endParaRPr lang="en-US" sz="1200" b="1" dirty="0">
              <a:solidFill>
                <a:srgbClr val="BF9000"/>
              </a:solidFill>
              <a:latin typeface="+mn-lt"/>
              <a:ea typeface="Calibri"/>
              <a:cs typeface="Calibri"/>
              <a:sym typeface="Calibri"/>
            </a:endParaRPr>
          </a:p>
          <a:p>
            <a:pPr marL="342900" lvl="0" indent="-342900" algn="l" rtl="0">
              <a:spcBef>
                <a:spcPts val="0"/>
              </a:spcBef>
              <a:spcAft>
                <a:spcPts val="0"/>
              </a:spcAft>
              <a:buFont typeface="Arial" panose="020B0604020202020204" pitchFamily="34" charset="0"/>
              <a:buChar char="•"/>
            </a:pPr>
            <a:r>
              <a:rPr lang="en-US" sz="1900" dirty="0">
                <a:solidFill>
                  <a:schemeClr val="tx1"/>
                </a:solidFill>
                <a:latin typeface="+mn-lt"/>
                <a:ea typeface="Calibri"/>
                <a:cs typeface="Calibri"/>
                <a:sym typeface="Calibri"/>
              </a:rPr>
              <a:t>Lack of a centralized event platform.</a:t>
            </a:r>
          </a:p>
          <a:p>
            <a:pPr marL="342900" lvl="0" indent="-342900" algn="l" rtl="0">
              <a:spcBef>
                <a:spcPts val="0"/>
              </a:spcBef>
              <a:spcAft>
                <a:spcPts val="0"/>
              </a:spcAft>
              <a:buFont typeface="Arial" panose="020B0604020202020204" pitchFamily="34" charset="0"/>
              <a:buChar char="•"/>
            </a:pPr>
            <a:r>
              <a:rPr lang="en-US" sz="1900" dirty="0">
                <a:solidFill>
                  <a:schemeClr val="tx1"/>
                </a:solidFill>
                <a:latin typeface="+mn-lt"/>
                <a:ea typeface="Calibri"/>
                <a:cs typeface="Calibri"/>
                <a:sym typeface="Calibri"/>
              </a:rPr>
              <a:t>Manual registration processes.</a:t>
            </a:r>
          </a:p>
          <a:p>
            <a:pPr marL="342900" lvl="0" indent="-342900" algn="l" rtl="0">
              <a:spcBef>
                <a:spcPts val="0"/>
              </a:spcBef>
              <a:spcAft>
                <a:spcPts val="0"/>
              </a:spcAft>
              <a:buFont typeface="Arial" panose="020B0604020202020204" pitchFamily="34" charset="0"/>
              <a:buChar char="•"/>
            </a:pPr>
            <a:r>
              <a:rPr lang="en-US" sz="1900" dirty="0">
                <a:solidFill>
                  <a:schemeClr val="tx1"/>
                </a:solidFill>
                <a:latin typeface="+mn-lt"/>
                <a:ea typeface="Calibri"/>
                <a:cs typeface="Calibri"/>
                <a:sym typeface="Calibri"/>
              </a:rPr>
              <a:t>Ineffective event notifications.</a:t>
            </a:r>
          </a:p>
          <a:p>
            <a:pPr marL="285750" lvl="0" indent="-285750" algn="l" rtl="0">
              <a:spcBef>
                <a:spcPts val="0"/>
              </a:spcBef>
              <a:spcAft>
                <a:spcPts val="0"/>
              </a:spcAft>
              <a:buFont typeface="Arial" panose="020B0604020202020204" pitchFamily="34" charset="0"/>
              <a:buChar char="•"/>
            </a:pPr>
            <a:r>
              <a:rPr lang="en-US" sz="1800" dirty="0">
                <a:solidFill>
                  <a:schemeClr val="tx1"/>
                </a:solidFill>
                <a:latin typeface="+mn-lt"/>
                <a:ea typeface="Calibri"/>
                <a:cs typeface="Calibri"/>
                <a:sym typeface="Calibri"/>
              </a:rPr>
              <a:t>Overlapping</a:t>
            </a:r>
            <a:r>
              <a:rPr lang="en-US" sz="1900" dirty="0">
                <a:solidFill>
                  <a:schemeClr val="tx1"/>
                </a:solidFill>
                <a:latin typeface="+mn-lt"/>
                <a:ea typeface="Calibri"/>
                <a:cs typeface="Calibri"/>
                <a:sym typeface="Calibri"/>
              </a:rPr>
              <a:t> event schedules.</a:t>
            </a:r>
          </a:p>
          <a:p>
            <a:pPr marL="342900" lvl="0" indent="-342900" algn="l" rtl="0">
              <a:spcBef>
                <a:spcPts val="0"/>
              </a:spcBef>
              <a:spcAft>
                <a:spcPts val="0"/>
              </a:spcAft>
              <a:buFont typeface="Arial" panose="020B0604020202020204" pitchFamily="34" charset="0"/>
              <a:buChar char="•"/>
            </a:pPr>
            <a:r>
              <a:rPr lang="en-US" sz="1900" dirty="0">
                <a:solidFill>
                  <a:schemeClr val="tx1"/>
                </a:solidFill>
                <a:latin typeface="+mn-lt"/>
                <a:ea typeface="Calibri"/>
                <a:cs typeface="Calibri"/>
                <a:sym typeface="Calibri"/>
              </a:rPr>
              <a:t>Scattered event data management.</a:t>
            </a:r>
            <a:endParaRPr lang="en-US" sz="1900" b="1" dirty="0">
              <a:solidFill>
                <a:srgbClr val="BF9000"/>
              </a:solidFill>
              <a:latin typeface="+mn-lt"/>
              <a:ea typeface="Calibri"/>
              <a:cs typeface="Calibri"/>
              <a:sym typeface="Calibri"/>
            </a:endParaRPr>
          </a:p>
          <a:p>
            <a:pPr marL="342900" lvl="0" indent="-342900" algn="l" rtl="0">
              <a:spcBef>
                <a:spcPts val="0"/>
              </a:spcBef>
              <a:spcAft>
                <a:spcPts val="0"/>
              </a:spcAft>
              <a:buFont typeface="Arial" panose="020B0604020202020204" pitchFamily="34" charset="0"/>
              <a:buChar char="•"/>
            </a:pPr>
            <a:endParaRPr sz="1900" b="1" dirty="0">
              <a:solidFill>
                <a:srgbClr val="BF9000"/>
              </a:solidFill>
              <a:latin typeface="+mn-lt"/>
              <a:ea typeface="Calibri"/>
              <a:cs typeface="Calibri"/>
              <a:sym typeface="Calibri"/>
            </a:endParaRPr>
          </a:p>
          <a:p>
            <a:pPr lvl="0" algn="l" rtl="0">
              <a:spcBef>
                <a:spcPts val="0"/>
              </a:spcBef>
              <a:spcAft>
                <a:spcPts val="0"/>
              </a:spcAft>
            </a:pPr>
            <a:r>
              <a:rPr lang="en-US" sz="1900" b="1" dirty="0">
                <a:solidFill>
                  <a:srgbClr val="BF9000"/>
                </a:solidFill>
                <a:latin typeface="+mn-lt"/>
                <a:ea typeface="Calibri"/>
                <a:cs typeface="Calibri"/>
                <a:sym typeface="Calibri"/>
              </a:rPr>
              <a:t>Scope of Work</a:t>
            </a:r>
            <a:endParaRPr sz="1900" b="1" dirty="0">
              <a:solidFill>
                <a:srgbClr val="BF9000"/>
              </a:solidFill>
              <a:latin typeface="+mn-lt"/>
              <a:ea typeface="Calibri"/>
              <a:cs typeface="Calibri"/>
              <a:sym typeface="Calibri"/>
            </a:endParaRPr>
          </a:p>
          <a:p>
            <a:pPr marL="171450" lvl="0" indent="-171450" algn="l" rtl="0">
              <a:spcBef>
                <a:spcPts val="0"/>
              </a:spcBef>
              <a:spcAft>
                <a:spcPts val="0"/>
              </a:spcAft>
              <a:buFont typeface="Arial" panose="020B0604020202020204" pitchFamily="34" charset="0"/>
              <a:buChar char="•"/>
            </a:pPr>
            <a:endParaRPr sz="700" b="1" dirty="0">
              <a:solidFill>
                <a:srgbClr val="BF9000"/>
              </a:solidFill>
              <a:latin typeface="+mn-lt"/>
              <a:ea typeface="Calibri"/>
              <a:cs typeface="Calibri"/>
              <a:sym typeface="Calibri"/>
            </a:endParaRPr>
          </a:p>
          <a:p>
            <a:pPr marL="425450" lvl="0" indent="-285750" algn="l" rtl="0">
              <a:spcBef>
                <a:spcPts val="0"/>
              </a:spcBef>
              <a:spcAft>
                <a:spcPts val="0"/>
              </a:spcAft>
              <a:buClr>
                <a:srgbClr val="000000"/>
              </a:buClr>
              <a:buSzPts val="1400"/>
              <a:buFont typeface="Arial" panose="020B0604020202020204" pitchFamily="34" charset="0"/>
              <a:buChar char="•"/>
            </a:pPr>
            <a:r>
              <a:rPr lang="en-US" sz="1800" dirty="0">
                <a:solidFill>
                  <a:srgbClr val="000000"/>
                </a:solidFill>
                <a:latin typeface="+mn-lt"/>
                <a:ea typeface="Calibri"/>
                <a:cs typeface="Calibri"/>
                <a:sym typeface="Calibri"/>
              </a:rPr>
              <a:t>Develop a unified event platform.</a:t>
            </a:r>
          </a:p>
          <a:p>
            <a:pPr marL="425450" lvl="0" indent="-285750" algn="l" rtl="0">
              <a:spcBef>
                <a:spcPts val="0"/>
              </a:spcBef>
              <a:spcAft>
                <a:spcPts val="0"/>
              </a:spcAft>
              <a:buClr>
                <a:srgbClr val="000000"/>
              </a:buClr>
              <a:buSzPts val="1400"/>
              <a:buFont typeface="Arial" panose="020B0604020202020204" pitchFamily="34" charset="0"/>
              <a:buChar char="•"/>
            </a:pPr>
            <a:r>
              <a:rPr lang="en-US" sz="1800" dirty="0">
                <a:solidFill>
                  <a:srgbClr val="000000"/>
                </a:solidFill>
                <a:latin typeface="+mn-lt"/>
                <a:ea typeface="Calibri"/>
                <a:cs typeface="Calibri"/>
                <a:sym typeface="Calibri"/>
              </a:rPr>
              <a:t>Automate participant notifications.</a:t>
            </a:r>
          </a:p>
          <a:p>
            <a:pPr marL="425450" lvl="0" indent="-285750" algn="l" rtl="0">
              <a:spcBef>
                <a:spcPts val="0"/>
              </a:spcBef>
              <a:spcAft>
                <a:spcPts val="0"/>
              </a:spcAft>
              <a:buClr>
                <a:srgbClr val="000000"/>
              </a:buClr>
              <a:buSzPts val="1400"/>
              <a:buFont typeface="Arial" panose="020B0604020202020204" pitchFamily="34" charset="0"/>
              <a:buChar char="•"/>
            </a:pPr>
            <a:r>
              <a:rPr lang="en-US" sz="1800" dirty="0">
                <a:solidFill>
                  <a:srgbClr val="000000"/>
                </a:solidFill>
                <a:latin typeface="+mn-lt"/>
                <a:ea typeface="Calibri"/>
                <a:cs typeface="Calibri"/>
                <a:sym typeface="Calibri"/>
              </a:rPr>
              <a:t>Create user-friendly dashboards.</a:t>
            </a:r>
          </a:p>
          <a:p>
            <a:pPr marL="425450" lvl="0" indent="-285750" algn="l" rtl="0">
              <a:spcBef>
                <a:spcPts val="0"/>
              </a:spcBef>
              <a:spcAft>
                <a:spcPts val="0"/>
              </a:spcAft>
              <a:buClr>
                <a:srgbClr val="000000"/>
              </a:buClr>
              <a:buSzPts val="1400"/>
              <a:buFont typeface="Arial" panose="020B0604020202020204" pitchFamily="34" charset="0"/>
              <a:buChar char="•"/>
            </a:pPr>
            <a:r>
              <a:rPr lang="en-US" sz="1800" dirty="0">
                <a:solidFill>
                  <a:srgbClr val="000000"/>
                </a:solidFill>
                <a:latin typeface="+mn-lt"/>
                <a:ea typeface="Calibri"/>
                <a:cs typeface="Calibri"/>
                <a:sym typeface="Calibri"/>
              </a:rPr>
              <a:t>Integrate with existing college systems.</a:t>
            </a:r>
          </a:p>
          <a:p>
            <a:pPr marL="425450" lvl="0" indent="-285750" algn="l" rtl="0">
              <a:spcBef>
                <a:spcPts val="0"/>
              </a:spcBef>
              <a:spcAft>
                <a:spcPts val="0"/>
              </a:spcAft>
              <a:buClr>
                <a:srgbClr val="000000"/>
              </a:buClr>
              <a:buSzPts val="1400"/>
              <a:buFont typeface="Arial" panose="020B0604020202020204" pitchFamily="34" charset="0"/>
              <a:buChar char="•"/>
            </a:pPr>
            <a:r>
              <a:rPr lang="en-US" sz="1800" dirty="0">
                <a:solidFill>
                  <a:srgbClr val="000000"/>
                </a:solidFill>
                <a:latin typeface="+mn-lt"/>
                <a:ea typeface="Calibri"/>
                <a:cs typeface="Calibri"/>
                <a:sym typeface="Calibri"/>
              </a:rPr>
              <a:t>Add engagement tracking features</a:t>
            </a:r>
            <a:r>
              <a:rPr lang="en-US" dirty="0">
                <a:solidFill>
                  <a:srgbClr val="000000"/>
                </a:solidFill>
                <a:latin typeface="+mn-lt"/>
                <a:ea typeface="Calibri"/>
                <a:cs typeface="Calibri"/>
                <a:sym typeface="Calibri"/>
              </a:rPr>
              <a:t>.</a:t>
            </a:r>
          </a:p>
        </p:txBody>
      </p:sp>
      <p:sp>
        <p:nvSpPr>
          <p:cNvPr id="112" name="Google Shape;112;p7"/>
          <p:cNvSpPr txBox="1"/>
          <p:nvPr/>
        </p:nvSpPr>
        <p:spPr>
          <a:xfrm>
            <a:off x="417094" y="224589"/>
            <a:ext cx="8010300" cy="578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dirty="0">
                <a:solidFill>
                  <a:srgbClr val="C00000"/>
                </a:solidFill>
                <a:latin typeface="Times New Roman"/>
                <a:ea typeface="Times New Roman"/>
                <a:cs typeface="Times New Roman"/>
                <a:sym typeface="Times New Roman"/>
              </a:rPr>
              <a:t>Identification of gaps &amp; scope of work </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2"/>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12</a:t>
            </a:fld>
            <a:endParaRPr/>
          </a:p>
        </p:txBody>
      </p:sp>
      <p:sp>
        <p:nvSpPr>
          <p:cNvPr id="118" name="Google Shape;118;p12"/>
          <p:cNvSpPr txBox="1"/>
          <p:nvPr/>
        </p:nvSpPr>
        <p:spPr>
          <a:xfrm>
            <a:off x="417094" y="224589"/>
            <a:ext cx="8010213" cy="5780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a:solidFill>
                  <a:srgbClr val="C00000"/>
                </a:solidFill>
                <a:latin typeface="Times New Roman"/>
                <a:ea typeface="Times New Roman"/>
                <a:cs typeface="Times New Roman"/>
                <a:sym typeface="Times New Roman"/>
              </a:rPr>
              <a:t>8. Implementation</a:t>
            </a:r>
            <a:r>
              <a:rPr lang="en-US" sz="2200" b="0" i="0" u="none" strike="noStrike" cap="none">
                <a:solidFill>
                  <a:srgbClr val="C00000"/>
                </a:solidFill>
                <a:latin typeface="Times New Roman"/>
                <a:ea typeface="Times New Roman"/>
                <a:cs typeface="Times New Roman"/>
                <a:sym typeface="Times New Roman"/>
              </a:rPr>
              <a:t> </a:t>
            </a:r>
            <a:endParaRPr/>
          </a:p>
        </p:txBody>
      </p:sp>
      <p:sp>
        <p:nvSpPr>
          <p:cNvPr id="119" name="Google Shape;119;p12"/>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dirty="0">
                <a:solidFill>
                  <a:srgbClr val="C00000"/>
                </a:solidFill>
                <a:latin typeface="Times New Roman"/>
                <a:ea typeface="Times New Roman"/>
                <a:cs typeface="Times New Roman"/>
                <a:sym typeface="Times New Roman"/>
              </a:rPr>
              <a:t>Department of Computer Science &amp; Engineering, </a:t>
            </a:r>
            <a:r>
              <a:rPr lang="en-US" sz="1800" b="1" i="1" u="none" strike="noStrike" cap="none" dirty="0" err="1">
                <a:solidFill>
                  <a:srgbClr val="C00000"/>
                </a:solidFill>
                <a:latin typeface="Times New Roman"/>
                <a:ea typeface="Times New Roman"/>
                <a:cs typeface="Times New Roman"/>
                <a:sym typeface="Times New Roman"/>
              </a:rPr>
              <a:t>MITSoC</a:t>
            </a:r>
            <a:r>
              <a:rPr lang="en-US" sz="1800" b="1" i="1" u="none" strike="noStrike" cap="none" dirty="0">
                <a:solidFill>
                  <a:srgbClr val="C00000"/>
                </a:solidFill>
                <a:latin typeface="Times New Roman"/>
                <a:ea typeface="Times New Roman"/>
                <a:cs typeface="Times New Roman"/>
                <a:sym typeface="Times New Roman"/>
              </a:rPr>
              <a:t>, Loni </a:t>
            </a:r>
            <a:r>
              <a:rPr lang="en-US" sz="1800" b="1" i="1" u="none" strike="noStrike" cap="none" dirty="0" err="1">
                <a:solidFill>
                  <a:srgbClr val="C00000"/>
                </a:solidFill>
                <a:latin typeface="Times New Roman"/>
                <a:ea typeface="Times New Roman"/>
                <a:cs typeface="Times New Roman"/>
                <a:sym typeface="Times New Roman"/>
              </a:rPr>
              <a:t>Kalbhor</a:t>
            </a:r>
            <a:endParaRPr sz="1800" b="1" i="1" u="none" strike="noStrike" cap="none" dirty="0">
              <a:solidFill>
                <a:srgbClr val="C00000"/>
              </a:solidFill>
              <a:latin typeface="Times New Roman"/>
              <a:ea typeface="Times New Roman"/>
              <a:cs typeface="Times New Roman"/>
              <a:sym typeface="Times New Roman"/>
            </a:endParaRPr>
          </a:p>
        </p:txBody>
      </p:sp>
      <p:pic>
        <p:nvPicPr>
          <p:cNvPr id="120" name="Google Shape;120;p12"/>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2" name="TextBox 1">
            <a:extLst>
              <a:ext uri="{FF2B5EF4-FFF2-40B4-BE49-F238E27FC236}">
                <a16:creationId xmlns:a16="http://schemas.microsoft.com/office/drawing/2014/main" id="{6D27F56F-525B-7329-ED7A-9516241D9585}"/>
              </a:ext>
            </a:extLst>
          </p:cNvPr>
          <p:cNvSpPr txBox="1"/>
          <p:nvPr/>
        </p:nvSpPr>
        <p:spPr>
          <a:xfrm>
            <a:off x="417094" y="1076466"/>
            <a:ext cx="6917984" cy="3754874"/>
          </a:xfrm>
          <a:prstGeom prst="rect">
            <a:avLst/>
          </a:prstGeom>
          <a:noFill/>
        </p:spPr>
        <p:txBody>
          <a:bodyPr wrap="square" rtlCol="0">
            <a:spAutoFit/>
          </a:bodyPr>
          <a:lstStyle/>
          <a:p>
            <a:r>
              <a:rPr lang="en-IN" b="1" dirty="0"/>
              <a:t>Frontend Development:</a:t>
            </a:r>
          </a:p>
          <a:p>
            <a:r>
              <a:rPr lang="en-IN" dirty="0"/>
              <a:t>- Create HTML and CSS components: </a:t>
            </a:r>
            <a:r>
              <a:rPr lang="en-IN" dirty="0" err="1"/>
              <a:t>HomePage</a:t>
            </a:r>
            <a:r>
              <a:rPr lang="en-IN" dirty="0"/>
              <a:t>, </a:t>
            </a:r>
            <a:r>
              <a:rPr lang="en-IN" dirty="0" err="1"/>
              <a:t>UserDashboard</a:t>
            </a:r>
            <a:r>
              <a:rPr lang="en-IN" dirty="0"/>
              <a:t>, </a:t>
            </a:r>
            <a:r>
              <a:rPr lang="en-IN" dirty="0" err="1"/>
              <a:t>AdminDashboard</a:t>
            </a:r>
            <a:r>
              <a:rPr lang="en-IN" dirty="0"/>
              <a:t>, </a:t>
            </a:r>
            <a:r>
              <a:rPr lang="en-IN" dirty="0" err="1"/>
              <a:t>EventDetails</a:t>
            </a:r>
            <a:r>
              <a:rPr lang="en-IN" dirty="0"/>
              <a:t>.</a:t>
            </a:r>
          </a:p>
          <a:p>
            <a:r>
              <a:rPr lang="en-IN" dirty="0"/>
              <a:t>- Use hyperlinks and navigation bars for internal navigation between pages.</a:t>
            </a:r>
          </a:p>
          <a:p>
            <a:endParaRPr lang="en-IN" dirty="0"/>
          </a:p>
          <a:p>
            <a:r>
              <a:rPr lang="en-IN" b="1" dirty="0"/>
              <a:t>Backend Setup:</a:t>
            </a:r>
          </a:p>
          <a:p>
            <a:r>
              <a:rPr lang="en-IN" dirty="0"/>
              <a:t>- Create Flask endpoints: `/events`, `/register`, `/admin/events`.</a:t>
            </a:r>
          </a:p>
          <a:p>
            <a:r>
              <a:rPr lang="en-IN" dirty="0"/>
              <a:t>- Ensure proper routing and request handling for dynamic content.</a:t>
            </a:r>
          </a:p>
          <a:p>
            <a:endParaRPr lang="en-IN" dirty="0"/>
          </a:p>
          <a:p>
            <a:r>
              <a:rPr lang="en-IN" b="1" dirty="0"/>
              <a:t>Database Design:</a:t>
            </a:r>
          </a:p>
          <a:p>
            <a:r>
              <a:rPr lang="en-IN" dirty="0"/>
              <a:t>- Use SQLite for data storage and integrate </a:t>
            </a:r>
            <a:r>
              <a:rPr lang="en-IN" dirty="0" err="1"/>
              <a:t>SQLAlchemy</a:t>
            </a:r>
            <a:r>
              <a:rPr lang="en-IN" dirty="0"/>
              <a:t> for ORM-based database interaction.</a:t>
            </a:r>
          </a:p>
          <a:p>
            <a:endParaRPr lang="en-IN" b="1" dirty="0"/>
          </a:p>
          <a:p>
            <a:r>
              <a:rPr lang="en-IN" b="1" dirty="0"/>
              <a:t>Authentication:</a:t>
            </a:r>
          </a:p>
          <a:p>
            <a:r>
              <a:rPr lang="en-IN" dirty="0"/>
              <a:t>- Implement session-based authentication for user login and session management to secure routes and data.</a:t>
            </a:r>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3"/>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13</a:t>
            </a:fld>
            <a:endParaRPr/>
          </a:p>
        </p:txBody>
      </p:sp>
      <p:sp>
        <p:nvSpPr>
          <p:cNvPr id="126" name="Google Shape;126;p13"/>
          <p:cNvSpPr txBox="1"/>
          <p:nvPr/>
        </p:nvSpPr>
        <p:spPr>
          <a:xfrm>
            <a:off x="417094" y="224589"/>
            <a:ext cx="8010213" cy="5780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dirty="0">
                <a:solidFill>
                  <a:srgbClr val="C00000"/>
                </a:solidFill>
                <a:latin typeface="Times New Roman"/>
                <a:ea typeface="Times New Roman"/>
                <a:cs typeface="Times New Roman"/>
                <a:sym typeface="Times New Roman"/>
              </a:rPr>
              <a:t>9. Results</a:t>
            </a:r>
            <a:r>
              <a:rPr lang="en-US" sz="2200" b="0" i="0" u="none" strike="noStrike" cap="none" dirty="0">
                <a:solidFill>
                  <a:srgbClr val="C00000"/>
                </a:solidFill>
                <a:latin typeface="Times New Roman"/>
                <a:ea typeface="Times New Roman"/>
                <a:cs typeface="Times New Roman"/>
                <a:sym typeface="Times New Roman"/>
              </a:rPr>
              <a:t> </a:t>
            </a:r>
            <a:endParaRPr dirty="0"/>
          </a:p>
        </p:txBody>
      </p:sp>
      <p:sp>
        <p:nvSpPr>
          <p:cNvPr id="127" name="Google Shape;127;p13"/>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sp>
        <p:nvSpPr>
          <p:cNvPr id="128" name="Google Shape;128;p13"/>
          <p:cNvSpPr txBox="1"/>
          <p:nvPr/>
        </p:nvSpPr>
        <p:spPr>
          <a:xfrm>
            <a:off x="416300" y="949250"/>
            <a:ext cx="7059156" cy="4863717"/>
          </a:xfrm>
          <a:prstGeom prst="rect">
            <a:avLst/>
          </a:prstGeom>
          <a:no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US" sz="1600" b="1" dirty="0"/>
              <a:t>Enhanced Event Participation</a:t>
            </a:r>
            <a:r>
              <a:rPr lang="en-US" sz="1600" dirty="0"/>
              <a:t>: Eventology facilitates increased participation through streamlined registration and automated reminders, boosting attendance rates at college events.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 </a:t>
            </a:r>
            <a:r>
              <a:rPr lang="en-US" sz="1600" b="1" dirty="0"/>
              <a:t>User Satisfaction</a:t>
            </a:r>
            <a:r>
              <a:rPr lang="en-US" sz="1600" dirty="0"/>
              <a:t>: A user-friendly platform enhances the experience for students, leading to positive feedback and repeated use for future events.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 </a:t>
            </a:r>
            <a:r>
              <a:rPr lang="en-US" sz="1600" b="1" dirty="0"/>
              <a:t>Expanded User Base</a:t>
            </a:r>
            <a:r>
              <a:rPr lang="en-US" sz="1600" dirty="0"/>
              <a:t>: The platform attracts more users by simplifying event discovery and management, contributing to broader engagement across the college.</a:t>
            </a:r>
          </a:p>
          <a:p>
            <a:endParaRPr lang="en-US" sz="1600" dirty="0"/>
          </a:p>
          <a:p>
            <a:pPr marL="285750" indent="-285750">
              <a:buFont typeface="Arial" panose="020B0604020202020204" pitchFamily="34" charset="0"/>
              <a:buChar char="•"/>
            </a:pPr>
            <a:r>
              <a:rPr lang="en-US" sz="1600" dirty="0"/>
              <a:t> </a:t>
            </a:r>
            <a:r>
              <a:rPr lang="en-US" sz="1600" b="1" dirty="0"/>
              <a:t>Improved Event Management</a:t>
            </a:r>
            <a:r>
              <a:rPr lang="en-US" sz="1600" dirty="0"/>
              <a:t>: Event managers benefit from a seamless interface for organizing and updating event details, reducing manual workload and errors</a:t>
            </a:r>
          </a:p>
        </p:txBody>
      </p:sp>
      <p:pic>
        <p:nvPicPr>
          <p:cNvPr id="129" name="Google Shape;129;p13"/>
          <p:cNvPicPr preferRelativeResize="0"/>
          <p:nvPr/>
        </p:nvPicPr>
        <p:blipFill rotWithShape="1">
          <a:blip r:embed="rId3">
            <a:alphaModFix/>
          </a:blip>
          <a:srcRect/>
          <a:stretch/>
        </p:blipFill>
        <p:spPr>
          <a:xfrm>
            <a:off x="0" y="5812967"/>
            <a:ext cx="999854" cy="10204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14</a:t>
            </a:fld>
            <a:endParaRPr/>
          </a:p>
        </p:txBody>
      </p:sp>
      <p:sp>
        <p:nvSpPr>
          <p:cNvPr id="135" name="Google Shape;135;p14"/>
          <p:cNvSpPr txBox="1"/>
          <p:nvPr/>
        </p:nvSpPr>
        <p:spPr>
          <a:xfrm>
            <a:off x="417094" y="224589"/>
            <a:ext cx="8010213" cy="5780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dirty="0">
                <a:solidFill>
                  <a:srgbClr val="C00000"/>
                </a:solidFill>
                <a:latin typeface="Times New Roman"/>
                <a:ea typeface="Times New Roman"/>
                <a:cs typeface="Times New Roman"/>
                <a:sym typeface="Times New Roman"/>
              </a:rPr>
              <a:t>10. Conclusion and Future Work</a:t>
            </a:r>
            <a:r>
              <a:rPr lang="en-US" sz="2200" b="0" i="0" u="none" strike="noStrike" cap="none" dirty="0">
                <a:solidFill>
                  <a:srgbClr val="C00000"/>
                </a:solidFill>
                <a:latin typeface="Times New Roman"/>
                <a:ea typeface="Times New Roman"/>
                <a:cs typeface="Times New Roman"/>
                <a:sym typeface="Times New Roman"/>
              </a:rPr>
              <a:t> </a:t>
            </a:r>
            <a:endParaRPr dirty="0"/>
          </a:p>
        </p:txBody>
      </p:sp>
      <p:sp>
        <p:nvSpPr>
          <p:cNvPr id="136" name="Google Shape;136;p14"/>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dirty="0">
                <a:solidFill>
                  <a:srgbClr val="C00000"/>
                </a:solidFill>
                <a:latin typeface="Times New Roman"/>
                <a:ea typeface="Times New Roman"/>
                <a:cs typeface="Times New Roman"/>
                <a:sym typeface="Times New Roman"/>
              </a:rPr>
              <a:t>Department of Computer Science &amp; Engineering, </a:t>
            </a:r>
            <a:r>
              <a:rPr lang="en-US" sz="1800" b="1" i="1" u="none" strike="noStrike" cap="none" dirty="0" err="1">
                <a:solidFill>
                  <a:srgbClr val="C00000"/>
                </a:solidFill>
                <a:latin typeface="Times New Roman"/>
                <a:ea typeface="Times New Roman"/>
                <a:cs typeface="Times New Roman"/>
                <a:sym typeface="Times New Roman"/>
              </a:rPr>
              <a:t>MITSoC</a:t>
            </a:r>
            <a:r>
              <a:rPr lang="en-US" sz="1800" b="1" i="1" u="none" strike="noStrike" cap="none" dirty="0">
                <a:solidFill>
                  <a:srgbClr val="C00000"/>
                </a:solidFill>
                <a:latin typeface="Times New Roman"/>
                <a:ea typeface="Times New Roman"/>
                <a:cs typeface="Times New Roman"/>
                <a:sym typeface="Times New Roman"/>
              </a:rPr>
              <a:t>, Loni </a:t>
            </a:r>
            <a:r>
              <a:rPr lang="en-US" sz="1800" b="1" i="1" u="none" strike="noStrike" cap="none" dirty="0" err="1">
                <a:solidFill>
                  <a:srgbClr val="C00000"/>
                </a:solidFill>
                <a:latin typeface="Times New Roman"/>
                <a:ea typeface="Times New Roman"/>
                <a:cs typeface="Times New Roman"/>
                <a:sym typeface="Times New Roman"/>
              </a:rPr>
              <a:t>Kalbhor</a:t>
            </a:r>
            <a:endParaRPr sz="1800" b="1" i="1" u="none" strike="noStrike" cap="none" dirty="0">
              <a:solidFill>
                <a:srgbClr val="C00000"/>
              </a:solidFill>
              <a:latin typeface="Times New Roman"/>
              <a:ea typeface="Times New Roman"/>
              <a:cs typeface="Times New Roman"/>
              <a:sym typeface="Times New Roman"/>
            </a:endParaRPr>
          </a:p>
        </p:txBody>
      </p:sp>
      <p:pic>
        <p:nvPicPr>
          <p:cNvPr id="137" name="Google Shape;137;p14"/>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138" name="Google Shape;138;p14"/>
          <p:cNvSpPr txBox="1"/>
          <p:nvPr/>
        </p:nvSpPr>
        <p:spPr>
          <a:xfrm>
            <a:off x="417094" y="1076466"/>
            <a:ext cx="7843200" cy="427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dirty="0">
                <a:latin typeface="+mn-lt"/>
                <a:ea typeface="Poppins"/>
                <a:cs typeface="Poppins"/>
                <a:sym typeface="Poppins"/>
              </a:rPr>
              <a:t>Conclusion</a:t>
            </a:r>
            <a:r>
              <a:rPr lang="en-US" sz="1600" dirty="0">
                <a:latin typeface="+mn-lt"/>
                <a:ea typeface="Poppins"/>
                <a:cs typeface="Poppins"/>
                <a:sym typeface="Poppins"/>
              </a:rPr>
              <a:t>:</a:t>
            </a:r>
          </a:p>
          <a:p>
            <a:pPr marL="0" lvl="0" indent="0" algn="l" rtl="0">
              <a:spcBef>
                <a:spcPts val="0"/>
              </a:spcBef>
              <a:spcAft>
                <a:spcPts val="0"/>
              </a:spcAft>
              <a:buNone/>
            </a:pPr>
            <a:r>
              <a:rPr lang="en-US" sz="1600" dirty="0">
                <a:latin typeface="+mn-lt"/>
                <a:ea typeface="Poppins"/>
                <a:cs typeface="Poppins"/>
                <a:sym typeface="Poppins"/>
              </a:rPr>
              <a:t> Eventology has proven to be an effective solution for managing college events, streamlining event registration, and enhancing communication. By automating notifications and providing an easy-to-use interface, the platform has improved both user engagement and event manager efficiency. The initial deployment has demonstrated its potential to simplify event coordination and increase student participation.</a:t>
            </a:r>
          </a:p>
          <a:p>
            <a:pPr marL="0" lvl="0" indent="0" algn="l" rtl="0">
              <a:spcBef>
                <a:spcPts val="0"/>
              </a:spcBef>
              <a:spcAft>
                <a:spcPts val="0"/>
              </a:spcAft>
              <a:buNone/>
            </a:pPr>
            <a:endParaRPr lang="en-US" sz="1600" dirty="0">
              <a:latin typeface="+mn-lt"/>
              <a:ea typeface="Poppins"/>
              <a:cs typeface="Poppins"/>
              <a:sym typeface="Poppins"/>
            </a:endParaRPr>
          </a:p>
          <a:p>
            <a:pPr marL="0" lvl="0" indent="0" algn="l" rtl="0">
              <a:spcBef>
                <a:spcPts val="0"/>
              </a:spcBef>
              <a:spcAft>
                <a:spcPts val="0"/>
              </a:spcAft>
              <a:buNone/>
            </a:pPr>
            <a:endParaRPr lang="en-US" sz="1600" dirty="0">
              <a:latin typeface="+mn-lt"/>
              <a:ea typeface="Poppins"/>
              <a:cs typeface="Poppins"/>
              <a:sym typeface="Poppins"/>
            </a:endParaRPr>
          </a:p>
          <a:p>
            <a:pPr marL="0" lvl="0" indent="0" algn="l" rtl="0">
              <a:spcBef>
                <a:spcPts val="0"/>
              </a:spcBef>
              <a:spcAft>
                <a:spcPts val="0"/>
              </a:spcAft>
              <a:buNone/>
            </a:pPr>
            <a:r>
              <a:rPr lang="en-US" sz="1600" b="1" dirty="0">
                <a:latin typeface="+mn-lt"/>
                <a:ea typeface="Poppins"/>
                <a:cs typeface="Poppins"/>
                <a:sym typeface="Poppins"/>
              </a:rPr>
              <a:t>Future Work:</a:t>
            </a:r>
          </a:p>
          <a:p>
            <a:pPr marL="0" lvl="0" indent="0" algn="l" rtl="0">
              <a:spcBef>
                <a:spcPts val="0"/>
              </a:spcBef>
              <a:spcAft>
                <a:spcPts val="0"/>
              </a:spcAft>
              <a:buNone/>
            </a:pPr>
            <a:r>
              <a:rPr lang="en-US" sz="1600" dirty="0">
                <a:latin typeface="+mn-lt"/>
                <a:ea typeface="Poppins"/>
                <a:cs typeface="Poppins"/>
                <a:sym typeface="Poppins"/>
              </a:rPr>
              <a:t>Future improvements will include expanding features such as real-time event updates, integrating a feedback mechanism for attendees, and developing a mobile application for better accessibility. Additionally, incorporating analytics to measure event success and further enhance user experience will be prioritized, along with exploring AI-driven recommendations for personalized event suggestions.</a:t>
            </a:r>
            <a:endParaRPr sz="1600" dirty="0">
              <a:latin typeface="+mn-lt"/>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g5cc8714c89_2_35"/>
          <p:cNvSpPr txBox="1">
            <a:spLocks noGrp="1"/>
          </p:cNvSpPr>
          <p:nvPr>
            <p:ph type="body" idx="1"/>
          </p:nvPr>
        </p:nvSpPr>
        <p:spPr>
          <a:xfrm>
            <a:off x="219401" y="904569"/>
            <a:ext cx="8661208" cy="4503174"/>
          </a:xfrm>
          <a:prstGeom prst="rect">
            <a:avLst/>
          </a:prstGeom>
          <a:noFill/>
          <a:ln>
            <a:noFill/>
          </a:ln>
        </p:spPr>
        <p:txBody>
          <a:bodyPr spcFirstLastPara="1" wrap="square" lIns="0" tIns="0" rIns="0" bIns="0" anchor="t" anchorCtr="0">
            <a:noAutofit/>
          </a:bodyPr>
          <a:lstStyle/>
          <a:p>
            <a:pPr marL="406400" lvl="0" indent="-406400" algn="just" rtl="0">
              <a:lnSpc>
                <a:spcPct val="150000"/>
              </a:lnSpc>
              <a:spcBef>
                <a:spcPts val="0"/>
              </a:spcBef>
              <a:spcAft>
                <a:spcPts val="0"/>
              </a:spcAft>
              <a:buSzPts val="1400"/>
              <a:buNone/>
            </a:pPr>
            <a:r>
              <a:rPr lang="en-US" sz="1400" dirty="0">
                <a:latin typeface="Times New Roman"/>
                <a:ea typeface="Times New Roman"/>
                <a:cs typeface="Times New Roman"/>
                <a:sym typeface="Times New Roman"/>
              </a:rPr>
              <a:t>1. </a:t>
            </a:r>
            <a:r>
              <a:rPr lang="en-US" sz="1400" dirty="0">
                <a:latin typeface="+mn-lt"/>
                <a:ea typeface="Times New Roman"/>
                <a:cs typeface="Times New Roman"/>
                <a:sym typeface="Times New Roman"/>
              </a:rPr>
              <a:t>[1Perez, M. R. L., </a:t>
            </a:r>
            <a:r>
              <a:rPr lang="en-US" sz="1400" dirty="0" err="1">
                <a:latin typeface="+mn-lt"/>
                <a:ea typeface="Times New Roman"/>
                <a:cs typeface="Times New Roman"/>
                <a:sym typeface="Times New Roman"/>
              </a:rPr>
              <a:t>Lagman</a:t>
            </a:r>
            <a:r>
              <a:rPr lang="en-US" sz="1400" dirty="0">
                <a:latin typeface="+mn-lt"/>
                <a:ea typeface="Times New Roman"/>
                <a:cs typeface="Times New Roman"/>
                <a:sym typeface="Times New Roman"/>
              </a:rPr>
              <a:t>, A. C., &amp; </a:t>
            </a:r>
            <a:r>
              <a:rPr lang="en-US" sz="1400" dirty="0" err="1">
                <a:latin typeface="+mn-lt"/>
                <a:ea typeface="Times New Roman"/>
                <a:cs typeface="Times New Roman"/>
                <a:sym typeface="Times New Roman"/>
              </a:rPr>
              <a:t>Adao</a:t>
            </a:r>
            <a:r>
              <a:rPr lang="en-US" sz="1400" dirty="0">
                <a:latin typeface="+mn-lt"/>
                <a:ea typeface="Times New Roman"/>
                <a:cs typeface="Times New Roman"/>
                <a:sym typeface="Times New Roman"/>
              </a:rPr>
              <a:t>, R. T. (2017, December). Event management solution using web application </a:t>
            </a:r>
            <a:r>
              <a:rPr lang="en-US" sz="1400" dirty="0">
                <a:solidFill>
                  <a:schemeClr val="tx1"/>
                </a:solidFill>
                <a:latin typeface="+mn-lt"/>
                <a:ea typeface="Times New Roman"/>
                <a:cs typeface="Times New Roman"/>
                <a:sym typeface="Times New Roman"/>
              </a:rPr>
              <a:t>platform. In Proceedings of the 2017 International Conference on Information Technology (pp. 206-211).</a:t>
            </a:r>
          </a:p>
          <a:p>
            <a:pPr marL="406400" lvl="0" indent="-406400" algn="just" rtl="0">
              <a:lnSpc>
                <a:spcPct val="150000"/>
              </a:lnSpc>
              <a:spcBef>
                <a:spcPts val="0"/>
              </a:spcBef>
              <a:spcAft>
                <a:spcPts val="0"/>
              </a:spcAft>
              <a:buSzPts val="1400"/>
              <a:buNone/>
            </a:pPr>
            <a:endParaRPr lang="en-US" sz="1400" dirty="0">
              <a:solidFill>
                <a:schemeClr val="tx1"/>
              </a:solidFill>
              <a:latin typeface="+mn-lt"/>
              <a:ea typeface="Times New Roman"/>
              <a:cs typeface="Times New Roman"/>
              <a:sym typeface="Times New Roman"/>
            </a:endParaRPr>
          </a:p>
          <a:p>
            <a:pPr marL="406400" lvl="0" indent="-406400" algn="just" rtl="0">
              <a:lnSpc>
                <a:spcPct val="150000"/>
              </a:lnSpc>
              <a:spcBef>
                <a:spcPts val="0"/>
              </a:spcBef>
              <a:spcAft>
                <a:spcPts val="0"/>
              </a:spcAft>
              <a:buSzPts val="1400"/>
              <a:buNone/>
            </a:pPr>
            <a:r>
              <a:rPr lang="en-IN" sz="1400" dirty="0">
                <a:solidFill>
                  <a:schemeClr val="tx1"/>
                </a:solidFill>
                <a:latin typeface="+mn-lt"/>
                <a:ea typeface="Times New Roman"/>
                <a:cs typeface="Times New Roman"/>
                <a:sym typeface="Times New Roman"/>
              </a:rPr>
              <a:t>2. Salam, A., &amp; </a:t>
            </a:r>
            <a:r>
              <a:rPr lang="en-IN" sz="1400" dirty="0" err="1">
                <a:solidFill>
                  <a:schemeClr val="tx1"/>
                </a:solidFill>
                <a:latin typeface="+mn-lt"/>
                <a:ea typeface="Times New Roman"/>
                <a:cs typeface="Times New Roman"/>
                <a:sym typeface="Times New Roman"/>
              </a:rPr>
              <a:t>Hajriyanti</a:t>
            </a:r>
            <a:r>
              <a:rPr lang="en-IN" sz="1400" dirty="0">
                <a:solidFill>
                  <a:schemeClr val="tx1"/>
                </a:solidFill>
                <a:latin typeface="+mn-lt"/>
                <a:ea typeface="Times New Roman"/>
                <a:cs typeface="Times New Roman"/>
                <a:sym typeface="Times New Roman"/>
              </a:rPr>
              <a:t>, R. (2022). Event Management System for Webinars and Survey. International Journal Software Engineering and Computer Science (IJSECS), 2(1), 9-17</a:t>
            </a:r>
          </a:p>
          <a:p>
            <a:pPr marL="406400" lvl="0" indent="-406400" algn="just" rtl="0">
              <a:lnSpc>
                <a:spcPct val="150000"/>
              </a:lnSpc>
              <a:spcBef>
                <a:spcPts val="0"/>
              </a:spcBef>
              <a:spcAft>
                <a:spcPts val="0"/>
              </a:spcAft>
              <a:buSzPts val="1400"/>
              <a:buNone/>
            </a:pPr>
            <a:endParaRPr lang="en-IN" sz="1400" dirty="0">
              <a:solidFill>
                <a:schemeClr val="tx1"/>
              </a:solidFill>
              <a:latin typeface="+mn-lt"/>
              <a:ea typeface="Times New Roman"/>
              <a:cs typeface="Times New Roman"/>
              <a:sym typeface="Times New Roman"/>
            </a:endParaRPr>
          </a:p>
          <a:p>
            <a:pPr marL="406400" lvl="0" indent="-406400" algn="just" rtl="0">
              <a:lnSpc>
                <a:spcPct val="150000"/>
              </a:lnSpc>
              <a:spcBef>
                <a:spcPts val="0"/>
              </a:spcBef>
              <a:spcAft>
                <a:spcPts val="0"/>
              </a:spcAft>
              <a:buSzPts val="1400"/>
              <a:buNone/>
            </a:pPr>
            <a:r>
              <a:rPr lang="en-US" sz="1400" dirty="0">
                <a:solidFill>
                  <a:schemeClr val="tx1"/>
                </a:solidFill>
                <a:latin typeface="+mn-lt"/>
                <a:ea typeface="Times New Roman"/>
                <a:cs typeface="Times New Roman"/>
                <a:sym typeface="Times New Roman"/>
              </a:rPr>
              <a:t>3. Shah, D. A., </a:t>
            </a:r>
            <a:r>
              <a:rPr lang="en-US" sz="1400" dirty="0" err="1">
                <a:solidFill>
                  <a:schemeClr val="tx1"/>
                </a:solidFill>
                <a:latin typeface="+mn-lt"/>
                <a:ea typeface="Times New Roman"/>
                <a:cs typeface="Times New Roman"/>
                <a:sym typeface="Times New Roman"/>
              </a:rPr>
              <a:t>Vasudavan</a:t>
            </a:r>
            <a:r>
              <a:rPr lang="en-US" sz="1400" dirty="0">
                <a:solidFill>
                  <a:schemeClr val="tx1"/>
                </a:solidFill>
                <a:latin typeface="+mn-lt"/>
                <a:ea typeface="Times New Roman"/>
                <a:cs typeface="Times New Roman"/>
                <a:sym typeface="Times New Roman"/>
              </a:rPr>
              <a:t>, H., &amp; Razali, N. F. (2023). Event Management Systems (EMS). Journal of Applied Technology and Innovation, 7(2), 45-53.</a:t>
            </a:r>
            <a:endParaRPr sz="1400" dirty="0">
              <a:solidFill>
                <a:schemeClr val="tx1"/>
              </a:solidFill>
              <a:latin typeface="+mn-lt"/>
              <a:ea typeface="Times New Roman"/>
              <a:cs typeface="Times New Roman"/>
              <a:sym typeface="Times New Roman"/>
            </a:endParaRPr>
          </a:p>
        </p:txBody>
      </p:sp>
      <p:sp>
        <p:nvSpPr>
          <p:cNvPr id="144" name="Google Shape;144;g5cc8714c89_2_35"/>
          <p:cNvSpPr txBox="1"/>
          <p:nvPr/>
        </p:nvSpPr>
        <p:spPr>
          <a:xfrm>
            <a:off x="375529" y="-1"/>
            <a:ext cx="2874298" cy="729049"/>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C00000"/>
                </a:solidFill>
                <a:latin typeface="Times New Roman"/>
                <a:ea typeface="Times New Roman"/>
                <a:cs typeface="Times New Roman"/>
                <a:sym typeface="Times New Roman"/>
              </a:rPr>
              <a:t>References</a:t>
            </a:r>
            <a:endParaRPr/>
          </a:p>
        </p:txBody>
      </p:sp>
      <p:sp>
        <p:nvSpPr>
          <p:cNvPr id="145" name="Google Shape;145;g5cc8714c89_2_35"/>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15</a:t>
            </a:fld>
            <a:endParaRPr/>
          </a:p>
        </p:txBody>
      </p:sp>
      <p:sp>
        <p:nvSpPr>
          <p:cNvPr id="146" name="Google Shape;146;g5cc8714c89_2_35"/>
          <p:cNvSpPr txBox="1"/>
          <p:nvPr/>
        </p:nvSpPr>
        <p:spPr>
          <a:xfrm>
            <a:off x="1379346" y="6055962"/>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pic>
        <p:nvPicPr>
          <p:cNvPr id="147" name="Google Shape;147;g5cc8714c89_2_35"/>
          <p:cNvPicPr preferRelativeResize="0"/>
          <p:nvPr/>
        </p:nvPicPr>
        <p:blipFill rotWithShape="1">
          <a:blip r:embed="rId3">
            <a:alphaModFix/>
          </a:blip>
          <a:srcRect/>
          <a:stretch/>
        </p:blipFill>
        <p:spPr>
          <a:xfrm>
            <a:off x="0" y="5812967"/>
            <a:ext cx="999854" cy="10204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6"/>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16</a:t>
            </a:fld>
            <a:endParaRPr/>
          </a:p>
        </p:txBody>
      </p:sp>
      <p:sp>
        <p:nvSpPr>
          <p:cNvPr id="153" name="Google Shape;153;p16"/>
          <p:cNvSpPr txBox="1"/>
          <p:nvPr/>
        </p:nvSpPr>
        <p:spPr>
          <a:xfrm>
            <a:off x="1379346" y="6055962"/>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dirty="0">
                <a:solidFill>
                  <a:srgbClr val="C00000"/>
                </a:solidFill>
                <a:latin typeface="Times New Roman"/>
                <a:ea typeface="Times New Roman"/>
                <a:cs typeface="Times New Roman"/>
                <a:sym typeface="Times New Roman"/>
              </a:rPr>
              <a:t>Department of Computer Science &amp; Engineering, </a:t>
            </a:r>
            <a:r>
              <a:rPr lang="en-US" sz="1800" b="1" i="1" u="none" strike="noStrike" cap="none" dirty="0" err="1">
                <a:solidFill>
                  <a:srgbClr val="C00000"/>
                </a:solidFill>
                <a:latin typeface="Times New Roman"/>
                <a:ea typeface="Times New Roman"/>
                <a:cs typeface="Times New Roman"/>
                <a:sym typeface="Times New Roman"/>
              </a:rPr>
              <a:t>MITSoC</a:t>
            </a:r>
            <a:r>
              <a:rPr lang="en-US" sz="1800" b="1" i="1" u="none" strike="noStrike" cap="none" dirty="0">
                <a:solidFill>
                  <a:srgbClr val="C00000"/>
                </a:solidFill>
                <a:latin typeface="Times New Roman"/>
                <a:ea typeface="Times New Roman"/>
                <a:cs typeface="Times New Roman"/>
                <a:sym typeface="Times New Roman"/>
              </a:rPr>
              <a:t>, Loni </a:t>
            </a:r>
            <a:r>
              <a:rPr lang="en-US" sz="1800" b="1" i="1" u="none" strike="noStrike" cap="none" dirty="0" err="1">
                <a:solidFill>
                  <a:srgbClr val="C00000"/>
                </a:solidFill>
                <a:latin typeface="Times New Roman"/>
                <a:ea typeface="Times New Roman"/>
                <a:cs typeface="Times New Roman"/>
                <a:sym typeface="Times New Roman"/>
              </a:rPr>
              <a:t>Kalbhor</a:t>
            </a:r>
            <a:endParaRPr sz="1800" b="1" i="1" u="none" strike="noStrike" cap="none" dirty="0">
              <a:solidFill>
                <a:srgbClr val="C00000"/>
              </a:solidFill>
              <a:latin typeface="Times New Roman"/>
              <a:ea typeface="Times New Roman"/>
              <a:cs typeface="Times New Roman"/>
              <a:sym typeface="Times New Roman"/>
            </a:endParaRPr>
          </a:p>
        </p:txBody>
      </p:sp>
      <p:sp>
        <p:nvSpPr>
          <p:cNvPr id="154" name="Google Shape;154;p16"/>
          <p:cNvSpPr/>
          <p:nvPr/>
        </p:nvSpPr>
        <p:spPr>
          <a:xfrm>
            <a:off x="1792145" y="2374230"/>
            <a:ext cx="5330550"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4000" b="1" i="0" u="none" strike="noStrike" cap="none">
                <a:solidFill>
                  <a:srgbClr val="C00000"/>
                </a:solidFill>
                <a:latin typeface="Times New Roman"/>
                <a:ea typeface="Times New Roman"/>
                <a:cs typeface="Times New Roman"/>
                <a:sym typeface="Times New Roman"/>
              </a:rPr>
              <a:t>Thank You</a:t>
            </a:r>
            <a:endParaRPr/>
          </a:p>
        </p:txBody>
      </p:sp>
      <p:pic>
        <p:nvPicPr>
          <p:cNvPr id="155" name="Google Shape;155;p16"/>
          <p:cNvPicPr preferRelativeResize="0"/>
          <p:nvPr/>
        </p:nvPicPr>
        <p:blipFill rotWithShape="1">
          <a:blip r:embed="rId3">
            <a:alphaModFix/>
          </a:blip>
          <a:srcRect/>
          <a:stretch/>
        </p:blipFill>
        <p:spPr>
          <a:xfrm>
            <a:off x="0" y="5812967"/>
            <a:ext cx="999854" cy="1020451"/>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307</TotalTime>
  <Words>1536</Words>
  <Application>Microsoft Office PowerPoint</Application>
  <PresentationFormat>On-screen Show (4:3)</PresentationFormat>
  <Paragraphs>194</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Times New Roman</vt:lpstr>
      <vt:lpstr>Arial</vt:lpstr>
      <vt:lpstr>Century Schoolbook</vt:lpstr>
      <vt:lpstr>Calibri</vt:lpstr>
      <vt:lpstr>Office Theme</vt:lpstr>
      <vt:lpstr>Eventology: A Smart Event Management Platform for College Events</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Yana Trivedi</cp:lastModifiedBy>
  <cp:revision>6</cp:revision>
  <dcterms:created xsi:type="dcterms:W3CDTF">2018-12-06T11:05:22Z</dcterms:created>
  <dcterms:modified xsi:type="dcterms:W3CDTF">2024-11-20T13:22:37Z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2017-02-01T00:00:00Z</vt:filetime>
  </property>
  <property fmtid="{D5CDD505-2E9C-101B-9397-08002B2CF9AE}" pid="3" name="Creator">
    <vt:lpwstr>Microsoft® Office PowerPoint® 2007</vt:lpwstr>
  </property>
  <property fmtid="{D5CDD505-2E9C-101B-9397-08002B2CF9AE}" pid="4" name="LastSaved">
    <vt:filetime>2018-12-06T00:00:00Z</vt:filetime>
  </property>
</Properties>
</file>